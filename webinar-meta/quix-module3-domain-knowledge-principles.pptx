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Yaw-rate RMSE Δ% (fidelity)</c:v>
                </c:pt>
              </c:strCache>
            </c:strRef>
          </c:tx>
          <c:spPr>
            <a:solidFill>
              <a:srgbClr val="3D89FF"/>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M1
agent+prompt</c:v>
                  </c:pt>
                  <c:pt idx="1">
                    <c:v>M2
+skills</c:v>
                  </c:pt>
                  <c:pt idx="2">
                    <c:v>M2.v3
+skills*</c:v>
                  </c:pt>
                  <c:pt idx="3">
                    <c:v>M3
+domain</c:v>
                  </c:pt>
                  <c:pt idx="4">
                    <c:v>M3.v2
+domain*</c:v>
                  </c:pt>
                </c:lvl>
              </c:multiLvlStrCache>
            </c:multiLvlStrRef>
          </c:cat>
          <c:val>
            <c:numRef>
              <c:f>Sheet1!$B$2:$B$6</c:f>
              <c:numCache>
                <c:formatCode>General</c:formatCode>
                <c:ptCount val="5"/>
                <c:pt idx="0">
                  <c:v>48</c:v>
                </c:pt>
                <c:pt idx="1">
                  <c:v>48.6</c:v>
                </c:pt>
                <c:pt idx="2">
                  <c:v>49.5</c:v>
                </c:pt>
                <c:pt idx="3">
                  <c:v>52.3</c:v>
                </c:pt>
                <c:pt idx="4">
                  <c:v>56.5</c:v>
                </c:pt>
              </c:numCache>
            </c:numRef>
          </c:val>
        </c:ser>
        <c:ser>
          <c:idx val="1"/>
          <c:order val="1"/>
          <c:tx>
            <c:strRef>
              <c:f>Sheet1!$C$1</c:f>
              <c:strCache>
                <c:ptCount val="1"/>
                <c:pt idx="0">
                  <c:v>Cross-track-error Δ% (trajectory)</c:v>
                </c:pt>
              </c:strCache>
            </c:strRef>
          </c:tx>
          <c:spPr>
            <a:solidFill>
              <a:srgbClr val="FF7828"/>
            </a:solidFill>
            <a:effectLst/>
          </c:spPr>
          <c:invertIfNegative val="0"/>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M1
agent+prompt</c:v>
                  </c:pt>
                  <c:pt idx="1">
                    <c:v>M2
+skills</c:v>
                  </c:pt>
                  <c:pt idx="2">
                    <c:v>M2.v3
+skills*</c:v>
                  </c:pt>
                  <c:pt idx="3">
                    <c:v>M3
+domain</c:v>
                  </c:pt>
                  <c:pt idx="4">
                    <c:v>M3.v2
+domain*</c:v>
                  </c:pt>
                </c:lvl>
              </c:multiLvlStrCache>
            </c:multiLvlStrRef>
          </c:cat>
          <c:val>
            <c:numRef>
              <c:f>Sheet1!$C$2:$C$6</c:f>
              <c:numCache>
                <c:formatCode>General</c:formatCode>
                <c:ptCount val="5"/>
                <c:pt idx="0">
                  <c:v>54.9</c:v>
                </c:pt>
                <c:pt idx="1">
                  <c:v>55.1</c:v>
                </c:pt>
                <c:pt idx="2">
                  <c:v>57.3</c:v>
                </c:pt>
                <c:pt idx="3">
                  <c:v>61.3</c:v>
                </c:pt>
                <c:pt idx="4">
                  <c:v>72.2</c:v>
                </c:pt>
              </c:numCache>
            </c:numRef>
          </c:val>
        </c:ser>
        <c:dLbls>
          <c:numFmt formatCode="#,##0" sourceLinked="0"/>
          <c:txPr>
            <a:bodyPr/>
            <a:lstStyle/>
            <a:p>
              <a:pPr>
                <a:defRPr b="0" i="0" strike="noStrike" sz="9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363641"/>
            </a:solidFill>
            <a:prstDash val="solid"/>
            <a:round/>
          </a:ln>
        </c:spPr>
        <c:txPr>
          <a:bodyPr/>
          <a:lstStyle/>
          <a:p>
            <a:pPr>
              <a:defRPr sz="900" b="0" i="0" u="none" strike="noStrike">
                <a:solidFill>
                  <a:srgbClr val="B9B9C6"/>
                </a:solidFill>
                <a:latin typeface="Arial"/>
              </a:defRPr>
            </a:pPr>
            <a:endParaRPr lang="en-US"/>
          </a:p>
        </c:txPr>
        <c:crossAx val="2094734552"/>
        <c:crosses val="autoZero"/>
        <c:auto val="1"/>
        <c:lblAlgn val="ctr"/>
        <c:noMultiLvlLbl val="1"/>
      </c:catAx>
      <c:valAx>
        <c:axId val="2094734552"/>
        <c:scaling>
          <c:orientation val="minMax"/>
          <c:max val="75"/>
          <c:min val="40"/>
        </c:scaling>
        <c:delete val="0"/>
        <c:axPos val="l"/>
        <c:majorGridlines>
          <c:spPr>
            <a:ln w="6350" cap="flat">
              <a:solidFill>
                <a:srgbClr val="363641"/>
              </a:solidFill>
              <a:prstDash val="solid"/>
              <a:round/>
            </a:ln>
          </c:spPr>
        </c:majorGridlines>
        <c:numFmt formatCode="General" sourceLinked="0"/>
        <c:majorTickMark val="out"/>
        <c:minorTickMark val="none"/>
        <c:tickLblPos val="nextTo"/>
        <c:spPr>
          <a:ln w="12700" cap="flat">
            <a:solidFill>
              <a:srgbClr val="363641"/>
            </a:solidFill>
            <a:prstDash val="solid"/>
            <a:round/>
          </a:ln>
        </c:spPr>
        <c:txPr>
          <a:bodyPr/>
          <a:lstStyle/>
          <a:p>
            <a:pPr>
              <a:defRPr sz="900" b="0" i="0" u="none" strike="noStrike">
                <a:solidFill>
                  <a:srgbClr val="8A8A99"/>
                </a:solidFill>
                <a:latin typeface="Arial"/>
              </a:defRPr>
            </a:pPr>
            <a:endParaRPr lang="en-US"/>
          </a:p>
        </c:txPr>
        <c:crossAx val="2094734554"/>
        <c:crosses val="autoZero"/>
        <c:crossBetween val="between"/>
      </c:valAx>
      <c:spPr>
        <a:solidFill>
          <a:srgbClr val="0A0B24"/>
        </a:solidFill>
        <a:ln>
          <a:noFill/>
        </a:ln>
        <a:effectLst/>
      </c:spPr>
    </c:plotArea>
    <c:legend>
      <c:legendPos val="t"/>
      <c:overlay val="0"/>
      <c:txPr>
        <a:bodyPr/>
        <a:lstStyle/>
        <a:p>
          <a:pPr>
            <a:defRPr sz="1000">
              <a:solidFill>
                <a:srgbClr val="B9B9C6"/>
              </a:solidFill>
              <a:latin typeface="Arial"/>
              <a:cs typeface="Arial"/>
            </a:defRPr>
          </a:pPr>
          <a:endParaRPr lang="en-US"/>
        </a:p>
      </c:txPr>
    </c:legend>
    <c:plotVisOnly val="1"/>
    <c:dispBlanksAs val="span"/>
  </c:chart>
  <c:spPr>
    <a:solidFill>
      <a:srgbClr val="0A0B2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www.youtube.com/watch?v=CEvIs9y1uog"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www.linkedin.com/events/7451948050601857024/"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www.youtube.com/watch?v=q9Vaoz0hd0U"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youtube.com/watch?v=S_oN3vlzpMw"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youtube.com/watch?v=q9Vaoz0hd0U" TargetMode="External"/><Relationship Id="rId2" Type="http://schemas.openxmlformats.org/officeDocument/2006/relationships/hyperlink" Target="https://www.youtube.com/watch?v=8rABwKRsec4" TargetMode="External"/><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www.youtube.com/watch?v=rmvDxxNubIg"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youtube.com/watch?v=CEvIs9y1uog" TargetMode="External"/><Relationship Id="rId2" Type="http://schemas.openxmlformats.org/officeDocument/2006/relationships/hyperlink" Target="https://www.linkedin.com/events/7451948050601857024/" TargetMode="External"/><Relationship Id="rId3" Type="http://schemas.openxmlformats.org/officeDocument/2006/relationships/hyperlink" Target="https://www.youtube.com/watch?v=S_oN3vlzpMw" TargetMode="External"/><Relationship Id="rId4" Type="http://schemas.openxmlformats.org/officeDocument/2006/relationships/hyperlink" Target="https://www.youtube.com/watch?v=q9Vaoz0hd0U" TargetMode="External"/><Relationship Id="rId5" Type="http://schemas.openxmlformats.org/officeDocument/2006/relationships/hyperlink" Target="https://www.youtube.com/watch?v=8rABwKRsec4" TargetMode="External"/><Relationship Id="rId6" Type="http://schemas.openxmlformats.org/officeDocument/2006/relationships/hyperlink" Target="https://www.youtube.com/watch?v=rmvDxxNubIg" TargetMode="External"/><Relationship Id="rId7" Type="http://schemas.openxmlformats.org/officeDocument/2006/relationships/hyperlink" Target="https://www.anthropic.com/engineering/effective-context-engineering-for-ai-agents" TargetMode="External"/><Relationship Id="rId8" Type="http://schemas.openxmlformats.org/officeDocument/2006/relationships/hyperlink" Target="https://www.anthropic.com/engineering/equipping-agents-for-the-real-world-with-agent-skills" TargetMode="External"/><Relationship Id="rId9" Type="http://schemas.openxmlformats.org/officeDocument/2006/relationships/hyperlink" Target="https://www.trychroma.com/research/context-rot" TargetMode="External"/><Relationship Id="rId10" Type="http://schemas.openxmlformats.org/officeDocument/2006/relationships/hyperlink" Target="https://rajivshah.com/blog/harness-engineering.html" TargetMode="External"/><Relationship Id="rId11" Type="http://schemas.openxmlformats.org/officeDocument/2006/relationships/slideLayout" Target="../slideLayouts/slideLayout1.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B24"/>
        </a:solidFill>
      </p:bgPr>
    </p:bg>
    <p:spTree>
      <p:nvGrpSpPr>
        <p:cNvPr id="1" name=""/>
        <p:cNvGrpSpPr/>
        <p:nvPr/>
      </p:nvGrpSpPr>
      <p:grpSpPr>
        <a:xfrm>
          <a:off x="0" y="0"/>
          <a:ext cx="0" cy="0"/>
          <a:chOff x="0" y="0"/>
          <a:chExt cx="0" cy="0"/>
        </a:xfrm>
      </p:grpSpPr>
      <p:sp>
        <p:nvSpPr>
          <p:cNvPr id="2" name="Shape 0"/>
          <p:cNvSpPr/>
          <p:nvPr/>
        </p:nvSpPr>
        <p:spPr>
          <a:xfrm>
            <a:off x="10268712" y="640080"/>
            <a:ext cx="1371600" cy="1371600"/>
          </a:xfrm>
          <a:prstGeom prst="ellipse">
            <a:avLst/>
          </a:prstGeom>
          <a:solidFill>
            <a:srgbClr val="0064FF">
              <a:alpha val="22000"/>
            </a:srgbClr>
          </a:solidFill>
          <a:ln/>
        </p:spPr>
      </p:sp>
      <p:sp>
        <p:nvSpPr>
          <p:cNvPr id="3" name="Shape 1"/>
          <p:cNvSpPr/>
          <p:nvPr/>
        </p:nvSpPr>
        <p:spPr>
          <a:xfrm>
            <a:off x="11091672" y="1417320"/>
            <a:ext cx="822960" cy="822960"/>
          </a:xfrm>
          <a:prstGeom prst="ellipse">
            <a:avLst/>
          </a:prstGeom>
          <a:solidFill>
            <a:srgbClr val="BD2EFF">
              <a:alpha val="28000"/>
            </a:srgbClr>
          </a:solidFill>
          <a:ln/>
        </p:spPr>
      </p:sp>
      <p:sp>
        <p:nvSpPr>
          <p:cNvPr id="4" name="Text 2"/>
          <p:cNvSpPr/>
          <p:nvPr/>
        </p:nvSpPr>
        <p:spPr>
          <a:xfrm>
            <a:off x="640080" y="1371600"/>
            <a:ext cx="10058400" cy="365760"/>
          </a:xfrm>
          <a:prstGeom prst="rect">
            <a:avLst/>
          </a:prstGeom>
          <a:noFill/>
          <a:ln/>
        </p:spPr>
        <p:txBody>
          <a:bodyPr wrap="square" lIns="0" tIns="0" rIns="0" bIns="0" rtlCol="0" anchor="ctr"/>
          <a:lstStyle/>
          <a:p>
            <a:pPr indent="0" marL="0">
              <a:buNone/>
            </a:pPr>
            <a:r>
              <a:rPr lang="en-US" sz="1400" b="1" spc="300" kern="0" dirty="0">
                <a:solidFill>
                  <a:srgbClr val="3D89FF"/>
                </a:solidFill>
                <a:latin typeface="Arial" pitchFamily="34" charset="0"/>
                <a:ea typeface="Arial" pitchFamily="34" charset="-122"/>
                <a:cs typeface="Arial" pitchFamily="34" charset="-120"/>
              </a:rPr>
              <a:t>THE QUIX AI WEBINAR  ·  MODULE 3</a:t>
            </a:r>
            <a:endParaRPr lang="en-US" sz="1400" dirty="0"/>
          </a:p>
        </p:txBody>
      </p:sp>
      <p:sp>
        <p:nvSpPr>
          <p:cNvPr id="5" name="Text 3"/>
          <p:cNvSpPr/>
          <p:nvPr/>
        </p:nvSpPr>
        <p:spPr>
          <a:xfrm>
            <a:off x="640080" y="1874520"/>
            <a:ext cx="10972800" cy="1005840"/>
          </a:xfrm>
          <a:prstGeom prst="rect">
            <a:avLst/>
          </a:prstGeom>
          <a:noFill/>
          <a:ln/>
        </p:spPr>
        <p:txBody>
          <a:bodyPr wrap="square" lIns="0" tIns="0" rIns="0" bIns="0" rtlCol="0" anchor="ctr"/>
          <a:lstStyle/>
          <a:p>
            <a:pPr indent="0" marL="0">
              <a:buNone/>
            </a:pPr>
            <a:r>
              <a:rPr lang="en-US" sz="5200" b="1" dirty="0">
                <a:solidFill>
                  <a:srgbClr val="FFFFFF"/>
                </a:solidFill>
                <a:latin typeface="Arial" pitchFamily="34" charset="0"/>
                <a:ea typeface="Arial" pitchFamily="34" charset="-122"/>
                <a:cs typeface="Arial" pitchFamily="34" charset="-120"/>
              </a:rPr>
              <a:t>Adding Domain Knowledge</a:t>
            </a:r>
            <a:endParaRPr lang="en-US" sz="5200" dirty="0"/>
          </a:p>
        </p:txBody>
      </p:sp>
      <p:sp>
        <p:nvSpPr>
          <p:cNvPr id="6" name="Text 4"/>
          <p:cNvSpPr/>
          <p:nvPr/>
        </p:nvSpPr>
        <p:spPr>
          <a:xfrm>
            <a:off x="640080" y="2880360"/>
            <a:ext cx="10972800" cy="640080"/>
          </a:xfrm>
          <a:prstGeom prst="rect">
            <a:avLst/>
          </a:prstGeom>
          <a:noFill/>
          <a:ln/>
        </p:spPr>
        <p:txBody>
          <a:bodyPr wrap="square" lIns="0" tIns="0" rIns="0" bIns="0" rtlCol="0" anchor="ctr"/>
          <a:lstStyle/>
          <a:p>
            <a:pPr indent="0" marL="0">
              <a:buNone/>
            </a:pPr>
            <a:r>
              <a:rPr lang="en-US" sz="2400" dirty="0">
                <a:solidFill>
                  <a:srgbClr val="B9B9C6"/>
                </a:solidFill>
                <a:latin typeface="Arial" pitchFamily="34" charset="0"/>
                <a:ea typeface="Arial" pitchFamily="34" charset="-122"/>
                <a:cs typeface="Arial" pitchFamily="34" charset="-120"/>
              </a:rPr>
              <a:t>Why Module 3 cohorts break out — and how to do it</a:t>
            </a:r>
            <a:endParaRPr lang="en-US" sz="2400" dirty="0"/>
          </a:p>
        </p:txBody>
      </p:sp>
      <p:sp>
        <p:nvSpPr>
          <p:cNvPr id="7" name="Text 5"/>
          <p:cNvSpPr/>
          <p:nvPr/>
        </p:nvSpPr>
        <p:spPr>
          <a:xfrm>
            <a:off x="640080" y="3886200"/>
            <a:ext cx="8503920" cy="1188720"/>
          </a:xfrm>
          <a:prstGeom prst="rect">
            <a:avLst/>
          </a:prstGeom>
          <a:noFill/>
          <a:ln/>
        </p:spPr>
        <p:txBody>
          <a:bodyPr wrap="square" lIns="0" tIns="0" rIns="0" bIns="0" rtlCol="0" anchor="t"/>
          <a:lstStyle/>
          <a:p>
            <a:pPr algn="l" indent="0" marL="0">
              <a:lnSpc>
                <a:spcPct val="115000"/>
              </a:lnSpc>
              <a:buNone/>
            </a:pPr>
            <a:r>
              <a:rPr lang="en-US" sz="1500" b="1" dirty="0">
                <a:solidFill>
                  <a:srgbClr val="FFFFFF"/>
                </a:solidFill>
                <a:latin typeface="Arial" pitchFamily="34" charset="0"/>
                <a:ea typeface="Arial" pitchFamily="34" charset="-122"/>
                <a:cs typeface="Arial" pitchFamily="34" charset="-120"/>
              </a:rPr>
              <a:t>The model is a commodity. </a:t>
            </a:r>
            <a:pPr algn="l" indent="0" marL="0">
              <a:lnSpc>
                <a:spcPct val="115000"/>
              </a:lnSpc>
              <a:buNone/>
            </a:pPr>
            <a:r>
              <a:rPr lang="en-US" sz="1500" dirty="0">
                <a:solidFill>
                  <a:srgbClr val="B9B9C6"/>
                </a:solidFill>
                <a:latin typeface="Arial" pitchFamily="34" charset="0"/>
                <a:ea typeface="Arial" pitchFamily="34" charset="-122"/>
                <a:cs typeface="Arial" pitchFamily="34" charset="-120"/>
              </a:rPr>
              <a:t>The harness is the moat. On engineering tasks the gains come from the environment, scaffolding and domain knowledge you build around the model — not the model itself.</a:t>
            </a:r>
            <a:endParaRPr lang="en-US" sz="1500" dirty="0"/>
          </a:p>
        </p:txBody>
      </p:sp>
      <p:sp>
        <p:nvSpPr>
          <p:cNvPr id="8" name="Text 6"/>
          <p:cNvSpPr/>
          <p:nvPr/>
        </p:nvSpPr>
        <p:spPr>
          <a:xfrm>
            <a:off x="640080" y="5212080"/>
            <a:ext cx="10058400" cy="457200"/>
          </a:xfrm>
          <a:prstGeom prst="rect">
            <a:avLst/>
          </a:prstGeom>
          <a:noFill/>
          <a:ln/>
        </p:spPr>
        <p:txBody>
          <a:bodyPr wrap="square" lIns="0" tIns="0" rIns="0" bIns="0" rtlCol="0" anchor="ctr"/>
          <a:lstStyle/>
          <a:p>
            <a:pPr indent="0" marL="0">
              <a:buNone/>
            </a:pPr>
            <a:r>
              <a:rPr lang="en-US" sz="1400" i="1" dirty="0">
                <a:solidFill>
                  <a:srgbClr val="FE9353"/>
                </a:solidFill>
                <a:latin typeface="Arial" pitchFamily="34" charset="0"/>
                <a:ea typeface="Arial" pitchFamily="34" charset="-122"/>
                <a:cs typeface="Arial" pitchFamily="34" charset="-120"/>
              </a:rPr>
              <a:t>prompt engineering  →  context engineering  →  harness engineering</a:t>
            </a:r>
            <a:endParaRPr lang="en-US" sz="1400" dirty="0"/>
          </a:p>
        </p:txBody>
      </p:sp>
      <p:sp>
        <p:nvSpPr>
          <p:cNvPr id="9" name="Text 7"/>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FFFFFF"/>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0" name="Text 8"/>
          <p:cNvSpPr/>
          <p:nvPr/>
        </p:nvSpPr>
        <p:spPr>
          <a:xfrm>
            <a:off x="10360152" y="6355080"/>
            <a:ext cx="132588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2022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B16"/>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lIns="0" tIns="0" rIns="0" bIns="0" rtlCol="0" anchor="ctr"/>
          <a:lstStyle/>
          <a:p>
            <a:pPr algn="l" indent="0" marL="0">
              <a:buNone/>
            </a:pPr>
            <a:r>
              <a:rPr lang="en-US" sz="1250" b="1" spc="200" kern="0" dirty="0">
                <a:solidFill>
                  <a:srgbClr val="3D89FF"/>
                </a:solidFill>
                <a:latin typeface="Arial" pitchFamily="34" charset="0"/>
                <a:ea typeface="Arial" pitchFamily="34" charset="-122"/>
                <a:cs typeface="Arial" pitchFamily="34" charset="-120"/>
              </a:rPr>
              <a:t>THE THESIS</a:t>
            </a:r>
            <a:endParaRPr lang="en-US" sz="1250" dirty="0"/>
          </a:p>
        </p:txBody>
      </p:sp>
      <p:sp>
        <p:nvSpPr>
          <p:cNvPr id="3" name="Text 1"/>
          <p:cNvSpPr/>
          <p:nvPr/>
        </p:nvSpPr>
        <p:spPr>
          <a:xfrm>
            <a:off x="548640" y="777240"/>
            <a:ext cx="11064240" cy="91440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Same model. Same task. The only thing we changed was the harness.</a:t>
            </a:r>
            <a:endParaRPr lang="en-US" sz="3000" dirty="0"/>
          </a:p>
        </p:txBody>
      </p:sp>
      <p:sp>
        <p:nvSpPr>
          <p:cNvPr id="4" name="Shape 2"/>
          <p:cNvSpPr/>
          <p:nvPr/>
        </p:nvSpPr>
        <p:spPr>
          <a:xfrm>
            <a:off x="548640" y="1874520"/>
            <a:ext cx="109728" cy="1234440"/>
          </a:xfrm>
          <a:prstGeom prst="rect">
            <a:avLst/>
          </a:prstGeom>
          <a:solidFill>
            <a:srgbClr val="0064FF"/>
          </a:solidFill>
          <a:ln/>
        </p:spPr>
      </p:sp>
      <p:sp>
        <p:nvSpPr>
          <p:cNvPr id="5" name="Shape 3"/>
          <p:cNvSpPr/>
          <p:nvPr/>
        </p:nvSpPr>
        <p:spPr>
          <a:xfrm>
            <a:off x="658368" y="1874520"/>
            <a:ext cx="10881360" cy="1234440"/>
          </a:xfrm>
          <a:prstGeom prst="roundRect">
            <a:avLst>
              <a:gd name="adj" fmla="val 4444"/>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6" name="Text 4"/>
          <p:cNvSpPr/>
          <p:nvPr/>
        </p:nvSpPr>
        <p:spPr>
          <a:xfrm>
            <a:off x="960120" y="2057400"/>
            <a:ext cx="103327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Module 1 — the bare agent</a:t>
            </a:r>
            <a:endParaRPr lang="en-US" sz="1900" dirty="0"/>
          </a:p>
        </p:txBody>
      </p:sp>
      <p:sp>
        <p:nvSpPr>
          <p:cNvPr id="7" name="Text 5"/>
          <p:cNvSpPr/>
          <p:nvPr/>
        </p:nvSpPr>
        <p:spPr>
          <a:xfrm>
            <a:off x="960120" y="2496312"/>
            <a:ext cx="10332720" cy="502920"/>
          </a:xfrm>
          <a:prstGeom prst="rect">
            <a:avLst/>
          </a:prstGeom>
          <a:noFill/>
          <a:ln/>
        </p:spPr>
        <p:txBody>
          <a:bodyPr wrap="square" lIns="0" tIns="0" rIns="0" bIns="0" rtlCol="0" anchor="t"/>
          <a:lstStyle/>
          <a:p>
            <a:pPr indent="0" marL="0">
              <a:buNone/>
            </a:pPr>
            <a:r>
              <a:rPr lang="en-US" sz="1350" dirty="0">
                <a:solidFill>
                  <a:srgbClr val="B9B9C6"/>
                </a:solidFill>
                <a:latin typeface="Arial" pitchFamily="34" charset="0"/>
                <a:ea typeface="Arial" pitchFamily="34" charset="-122"/>
                <a:cs typeface="Arial" pitchFamily="34" charset="-120"/>
              </a:rPr>
              <a:t>A capable model with permissions, tools, data and a task prompt. Think Claude in an IDE.</a:t>
            </a:r>
            <a:endParaRPr lang="en-US" sz="1350" dirty="0"/>
          </a:p>
        </p:txBody>
      </p:sp>
      <p:sp>
        <p:nvSpPr>
          <p:cNvPr id="8" name="Shape 6"/>
          <p:cNvSpPr/>
          <p:nvPr/>
        </p:nvSpPr>
        <p:spPr>
          <a:xfrm>
            <a:off x="548640" y="3291840"/>
            <a:ext cx="109728" cy="1234440"/>
          </a:xfrm>
          <a:prstGeom prst="rect">
            <a:avLst/>
          </a:prstGeom>
          <a:solidFill>
            <a:srgbClr val="BD2EFF"/>
          </a:solidFill>
          <a:ln/>
        </p:spPr>
      </p:sp>
      <p:sp>
        <p:nvSpPr>
          <p:cNvPr id="9" name="Shape 7"/>
          <p:cNvSpPr/>
          <p:nvPr/>
        </p:nvSpPr>
        <p:spPr>
          <a:xfrm>
            <a:off x="658368" y="3291840"/>
            <a:ext cx="10881360" cy="1234440"/>
          </a:xfrm>
          <a:prstGeom prst="roundRect">
            <a:avLst>
              <a:gd name="adj" fmla="val 4444"/>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0" name="Text 8"/>
          <p:cNvSpPr/>
          <p:nvPr/>
        </p:nvSpPr>
        <p:spPr>
          <a:xfrm>
            <a:off x="960120" y="3474720"/>
            <a:ext cx="103327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Module 2 — + skills</a:t>
            </a:r>
            <a:endParaRPr lang="en-US" sz="1900" dirty="0"/>
          </a:p>
        </p:txBody>
      </p:sp>
      <p:sp>
        <p:nvSpPr>
          <p:cNvPr id="11" name="Text 9"/>
          <p:cNvSpPr/>
          <p:nvPr/>
        </p:nvSpPr>
        <p:spPr>
          <a:xfrm>
            <a:off x="960120" y="3913632"/>
            <a:ext cx="10332720" cy="502920"/>
          </a:xfrm>
          <a:prstGeom prst="rect">
            <a:avLst/>
          </a:prstGeom>
          <a:noFill/>
          <a:ln/>
        </p:spPr>
        <p:txBody>
          <a:bodyPr wrap="square" lIns="0" tIns="0" rIns="0" bIns="0" rtlCol="0" anchor="t"/>
          <a:lstStyle/>
          <a:p>
            <a:pPr indent="0" marL="0">
              <a:buNone/>
            </a:pPr>
            <a:r>
              <a:rPr lang="en-US" sz="1350" dirty="0">
                <a:solidFill>
                  <a:srgbClr val="B9B9C6"/>
                </a:solidFill>
                <a:latin typeface="Arial" pitchFamily="34" charset="0"/>
                <a:ea typeface="Arial" pitchFamily="34" charset="-122"/>
                <a:cs typeface="Arial" pitchFamily="34" charset="-120"/>
              </a:rPr>
              <a:t>Module 1 plus a toolkit of procedural recipes the agent loads on demand.</a:t>
            </a:r>
            <a:endParaRPr lang="en-US" sz="1350" dirty="0"/>
          </a:p>
        </p:txBody>
      </p:sp>
      <p:sp>
        <p:nvSpPr>
          <p:cNvPr id="12" name="Shape 10"/>
          <p:cNvSpPr/>
          <p:nvPr/>
        </p:nvSpPr>
        <p:spPr>
          <a:xfrm>
            <a:off x="548640" y="4709160"/>
            <a:ext cx="109728" cy="1234440"/>
          </a:xfrm>
          <a:prstGeom prst="rect">
            <a:avLst/>
          </a:prstGeom>
          <a:solidFill>
            <a:srgbClr val="FF7828"/>
          </a:solidFill>
          <a:ln/>
        </p:spPr>
      </p:sp>
      <p:sp>
        <p:nvSpPr>
          <p:cNvPr id="13" name="Shape 11"/>
          <p:cNvSpPr/>
          <p:nvPr/>
        </p:nvSpPr>
        <p:spPr>
          <a:xfrm>
            <a:off x="658368" y="4709160"/>
            <a:ext cx="10881360" cy="1234440"/>
          </a:xfrm>
          <a:prstGeom prst="roundRect">
            <a:avLst>
              <a:gd name="adj" fmla="val 4444"/>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4" name="Text 12"/>
          <p:cNvSpPr/>
          <p:nvPr/>
        </p:nvSpPr>
        <p:spPr>
          <a:xfrm>
            <a:off x="960120" y="4892040"/>
            <a:ext cx="10332720" cy="41148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Module 3 — + domain knowledge</a:t>
            </a:r>
            <a:endParaRPr lang="en-US" sz="1900" dirty="0"/>
          </a:p>
        </p:txBody>
      </p:sp>
      <p:sp>
        <p:nvSpPr>
          <p:cNvPr id="15" name="Text 13"/>
          <p:cNvSpPr/>
          <p:nvPr/>
        </p:nvSpPr>
        <p:spPr>
          <a:xfrm>
            <a:off x="960120" y="5330952"/>
            <a:ext cx="10332720" cy="502920"/>
          </a:xfrm>
          <a:prstGeom prst="rect">
            <a:avLst/>
          </a:prstGeom>
          <a:noFill/>
          <a:ln/>
        </p:spPr>
        <p:txBody>
          <a:bodyPr wrap="square" lIns="0" tIns="0" rIns="0" bIns="0" rtlCol="0" anchor="t"/>
          <a:lstStyle/>
          <a:p>
            <a:pPr indent="0" marL="0">
              <a:buNone/>
            </a:pPr>
            <a:r>
              <a:rPr lang="en-US" sz="1350" dirty="0">
                <a:solidFill>
                  <a:srgbClr val="B9B9C6"/>
                </a:solidFill>
                <a:latin typeface="Arial" pitchFamily="34" charset="0"/>
                <a:ea typeface="Arial" pitchFamily="34" charset="-122"/>
                <a:cs typeface="Arial" pitchFamily="34" charset="-120"/>
              </a:rPr>
              <a:t>Module 2 plus reference docs: the hard-won judgement of people who've done this task before.</a:t>
            </a:r>
            <a:endParaRPr lang="en-US" sz="1350" dirty="0"/>
          </a:p>
        </p:txBody>
      </p:sp>
      <p:sp>
        <p:nvSpPr>
          <p:cNvPr id="16" name="Text 14"/>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7" name="Text 15"/>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Domain Knowledge</a:t>
            </a:r>
            <a:endParaRPr lang="en-US" sz="950" dirty="0"/>
          </a:p>
        </p:txBody>
      </p:sp>
      <p:sp>
        <p:nvSpPr>
          <p:cNvPr id="18" name="Text 16"/>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B24"/>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lIns="0" tIns="0" rIns="0" bIns="0" rtlCol="0" anchor="ctr"/>
          <a:lstStyle/>
          <a:p>
            <a:pPr algn="l" indent="0" marL="0">
              <a:buNone/>
            </a:pPr>
            <a:r>
              <a:rPr lang="en-US" sz="1250" b="1" spc="200" kern="0" dirty="0">
                <a:solidFill>
                  <a:srgbClr val="00DD81"/>
                </a:solidFill>
                <a:latin typeface="Arial" pitchFamily="34" charset="0"/>
                <a:ea typeface="Arial" pitchFamily="34" charset="-122"/>
                <a:cs typeface="Arial" pitchFamily="34" charset="-120"/>
              </a:rPr>
              <a:t>THE EVIDENCE</a:t>
            </a:r>
            <a:endParaRPr lang="en-US" sz="1250" dirty="0"/>
          </a:p>
        </p:txBody>
      </p:sp>
      <p:sp>
        <p:nvSpPr>
          <p:cNvPr id="3" name="Text 1"/>
          <p:cNvSpPr/>
          <p:nvPr/>
        </p:nvSpPr>
        <p:spPr>
          <a:xfrm>
            <a:off x="548640" y="777240"/>
            <a:ext cx="11064240" cy="91440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60-agent cohort, identical task and model — improvement vs the V0 baseline</a:t>
            </a:r>
            <a:endParaRPr lang="en-US" sz="3000" dirty="0"/>
          </a:p>
        </p:txBody>
      </p:sp>
      <p:graphicFrame>
        <p:nvGraphicFramePr>
          <p:cNvPr id="4" name="Chart 0" descr=""/>
          <p:cNvGraphicFramePr/>
          <p:nvPr/>
        </p:nvGraphicFramePr>
        <p:xfrm>
          <a:off x="548640" y="1783080"/>
          <a:ext cx="713232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955280" y="1783080"/>
            <a:ext cx="3611880" cy="4206240"/>
          </a:xfrm>
          <a:prstGeom prst="roundRect">
            <a:avLst>
              <a:gd name="adj" fmla="val 1772"/>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6" name="Text 3"/>
          <p:cNvSpPr/>
          <p:nvPr/>
        </p:nvSpPr>
        <p:spPr>
          <a:xfrm>
            <a:off x="8183880" y="2011680"/>
            <a:ext cx="3154680" cy="548640"/>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Read the variance, not just the mean</a:t>
            </a:r>
            <a:endParaRPr lang="en-US" sz="1400" dirty="0"/>
          </a:p>
        </p:txBody>
      </p:sp>
      <p:sp>
        <p:nvSpPr>
          <p:cNvPr id="7" name="Text 4"/>
          <p:cNvSpPr/>
          <p:nvPr/>
        </p:nvSpPr>
        <p:spPr>
          <a:xfrm>
            <a:off x="8183880" y="2606040"/>
            <a:ext cx="3154680" cy="3200400"/>
          </a:xfrm>
          <a:prstGeom prst="rect">
            <a:avLst/>
          </a:prstGeom>
          <a:noFill/>
          <a:ln/>
        </p:spPr>
        <p:txBody>
          <a:bodyPr wrap="square" lIns="0" tIns="0" rIns="0" bIns="0" rtlCol="0" anchor="t"/>
          <a:lstStyle/>
          <a:p>
            <a:pPr indent="0" marL="0">
              <a:lnSpc>
                <a:spcPct val="105000"/>
              </a:lnSpc>
              <a:buNone/>
            </a:pPr>
            <a:r>
              <a:rPr lang="en-US" sz="1200" b="1" dirty="0">
                <a:solidFill>
                  <a:srgbClr val="CA5FFF"/>
                </a:solidFill>
                <a:latin typeface="Arial" pitchFamily="34" charset="0"/>
                <a:ea typeface="Arial" pitchFamily="34" charset="-122"/>
                <a:cs typeface="Arial" pitchFamily="34" charset="-120"/>
              </a:rPr>
              <a:t>M2 → cuts spread
</a:t>
            </a:r>
            <a:endParaRPr lang="en-US" sz="1200" dirty="0"/>
          </a:p>
          <a:p>
            <a:pPr indent="0" marL="0">
              <a:lnSpc>
                <a:spcPct val="105000"/>
              </a:lnSpc>
              <a:buNone/>
            </a:pPr>
            <a:r>
              <a:rPr lang="en-US" sz="1200" dirty="0">
                <a:solidFill>
                  <a:srgbClr val="B9B9C6"/>
                </a:solidFill>
                <a:latin typeface="Arial" pitchFamily="34" charset="0"/>
                <a:ea typeface="Arial" pitchFamily="34" charset="-122"/>
                <a:cs typeface="Arial" pitchFamily="34" charset="-120"/>
              </a:rPr>
              <a:t>yaw σ  2.8% → 1.4%
</a:t>
            </a:r>
            <a:endParaRPr lang="en-US" sz="1200" dirty="0"/>
          </a:p>
          <a:p>
            <a:pPr indent="0" marL="0">
              <a:lnSpc>
                <a:spcPct val="105000"/>
              </a:lnSpc>
              <a:buNone/>
            </a:pPr>
            <a:r>
              <a:rPr lang="en-US" sz="600" dirty="0">
                <a:solidFill>
                  <a:srgbClr val="000000"/>
                </a:solidFill>
                <a:latin typeface="Arial" pitchFamily="34" charset="0"/>
                <a:ea typeface="Arial" pitchFamily="34" charset="-122"/>
                <a:cs typeface="Arial" pitchFamily="34" charset="-120"/>
              </a:rPr>
              <a:t>
</a:t>
            </a:r>
            <a:endParaRPr lang="en-US" sz="1200" dirty="0"/>
          </a:p>
          <a:p>
            <a:pPr indent="0" marL="0">
              <a:lnSpc>
                <a:spcPct val="105000"/>
              </a:lnSpc>
              <a:buNone/>
            </a:pPr>
            <a:r>
              <a:rPr lang="en-US" sz="1200" b="1" dirty="0">
                <a:solidFill>
                  <a:srgbClr val="FE9353"/>
                </a:solidFill>
                <a:latin typeface="Arial" pitchFamily="34" charset="0"/>
                <a:ea typeface="Arial" pitchFamily="34" charset="-122"/>
                <a:cs typeface="Arial" pitchFamily="34" charset="-120"/>
              </a:rPr>
              <a:t>M3.v2 → breaks out
</a:t>
            </a:r>
            <a:endParaRPr lang="en-US" sz="1200" dirty="0"/>
          </a:p>
          <a:p>
            <a:pPr indent="0" marL="0">
              <a:lnSpc>
                <a:spcPct val="105000"/>
              </a:lnSpc>
              <a:buNone/>
            </a:pPr>
            <a:r>
              <a:rPr lang="en-US" sz="1200" b="1" dirty="0">
                <a:solidFill>
                  <a:srgbClr val="FFFFFF"/>
                </a:solidFill>
                <a:latin typeface="Arial" pitchFamily="34" charset="0"/>
                <a:ea typeface="Arial" pitchFamily="34" charset="-122"/>
                <a:cs typeface="Arial" pitchFamily="34" charset="-120"/>
              </a:rPr>
              <a:t>+56.5% yaw  /  +72.2% CTE
</a:t>
            </a:r>
            <a:endParaRPr lang="en-US" sz="1200" dirty="0"/>
          </a:p>
          <a:p>
            <a:pPr indent="0" marL="0">
              <a:lnSpc>
                <a:spcPct val="105000"/>
              </a:lnSpc>
              <a:buNone/>
            </a:pPr>
            <a:r>
              <a:rPr lang="en-US" sz="1200" dirty="0">
                <a:solidFill>
                  <a:srgbClr val="B9B9C6"/>
                </a:solidFill>
                <a:latin typeface="Arial" pitchFamily="34" charset="0"/>
                <a:ea typeface="Arial" pitchFamily="34" charset="-122"/>
                <a:cs typeface="Arial" pitchFamily="34" charset="-120"/>
              </a:rPr>
              <a:t>at σ of 0.6% / 0.3%
</a:t>
            </a:r>
            <a:endParaRPr lang="en-US" sz="1200" dirty="0"/>
          </a:p>
          <a:p>
            <a:pPr indent="0" marL="0">
              <a:lnSpc>
                <a:spcPct val="105000"/>
              </a:lnSpc>
              <a:buNone/>
            </a:pPr>
            <a:r>
              <a:rPr lang="en-US" sz="600" dirty="0">
                <a:solidFill>
                  <a:srgbClr val="000000"/>
                </a:solidFill>
                <a:latin typeface="Arial" pitchFamily="34" charset="0"/>
                <a:ea typeface="Arial" pitchFamily="34" charset="-122"/>
                <a:cs typeface="Arial" pitchFamily="34" charset="-120"/>
              </a:rPr>
              <a:t>
</a:t>
            </a:r>
            <a:endParaRPr lang="en-US" sz="1200" dirty="0"/>
          </a:p>
          <a:p>
            <a:pPr indent="0" marL="0">
              <a:lnSpc>
                <a:spcPct val="105000"/>
              </a:lnSpc>
              <a:buNone/>
            </a:pPr>
            <a:r>
              <a:rPr lang="en-US" sz="1200" dirty="0">
                <a:solidFill>
                  <a:srgbClr val="B9B9C6"/>
                </a:solidFill>
                <a:latin typeface="Arial" pitchFamily="34" charset="0"/>
                <a:ea typeface="Arial" pitchFamily="34" charset="-122"/>
                <a:cs typeface="Arial" pitchFamily="34" charset="-120"/>
              </a:rPr>
              <a:t>Nearly every agent converged on the same near-optimal trajectory.</a:t>
            </a:r>
            <a:endParaRPr lang="en-US" sz="1200" dirty="0"/>
          </a:p>
        </p:txBody>
      </p:sp>
      <p:sp>
        <p:nvSpPr>
          <p:cNvPr id="8" name="Text 5"/>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9" name="Text 6"/>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Source: canonical grade, run 20260601-120739</a:t>
            </a:r>
            <a:endParaRPr lang="en-US" sz="950" dirty="0"/>
          </a:p>
        </p:txBody>
      </p:sp>
      <p:sp>
        <p:nvSpPr>
          <p:cNvPr id="10" name="Text 7"/>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B16"/>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lIns="0" tIns="0" rIns="0" bIns="0" rtlCol="0" anchor="ctr"/>
          <a:lstStyle/>
          <a:p>
            <a:pPr algn="l" indent="0" marL="0">
              <a:buNone/>
            </a:pPr>
            <a:r>
              <a:rPr lang="en-US" sz="1250" b="1" spc="200" kern="0" dirty="0">
                <a:solidFill>
                  <a:srgbClr val="FE9353"/>
                </a:solidFill>
                <a:latin typeface="Arial" pitchFamily="34" charset="0"/>
                <a:ea typeface="Arial" pitchFamily="34" charset="-122"/>
                <a:cs typeface="Arial" pitchFamily="34" charset="-120"/>
              </a:rPr>
              <a:t>THE HONEST HEADLINE</a:t>
            </a:r>
            <a:endParaRPr lang="en-US" sz="1250" dirty="0"/>
          </a:p>
        </p:txBody>
      </p:sp>
      <p:sp>
        <p:nvSpPr>
          <p:cNvPr id="3" name="Text 1"/>
          <p:cNvSpPr/>
          <p:nvPr/>
        </p:nvSpPr>
        <p:spPr>
          <a:xfrm>
            <a:off x="548640" y="777240"/>
            <a:ext cx="11064240" cy="91440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The layers do different jobs</a:t>
            </a:r>
            <a:endParaRPr lang="en-US" sz="3000" dirty="0"/>
          </a:p>
        </p:txBody>
      </p:sp>
      <p:sp>
        <p:nvSpPr>
          <p:cNvPr id="4" name="Shape 2"/>
          <p:cNvSpPr/>
          <p:nvPr/>
        </p:nvSpPr>
        <p:spPr>
          <a:xfrm>
            <a:off x="548640" y="1828800"/>
            <a:ext cx="5376672" cy="4069080"/>
          </a:xfrm>
          <a:prstGeom prst="roundRect">
            <a:avLst>
              <a:gd name="adj" fmla="val 179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5" name="Shape 3"/>
          <p:cNvSpPr/>
          <p:nvPr/>
        </p:nvSpPr>
        <p:spPr>
          <a:xfrm>
            <a:off x="548640" y="1828800"/>
            <a:ext cx="5376672" cy="109728"/>
          </a:xfrm>
          <a:prstGeom prst="rect">
            <a:avLst/>
          </a:prstGeom>
          <a:solidFill>
            <a:srgbClr val="BD2EFF"/>
          </a:solidFill>
          <a:ln/>
        </p:spPr>
      </p:sp>
      <p:sp>
        <p:nvSpPr>
          <p:cNvPr id="6" name="Text 4"/>
          <p:cNvSpPr/>
          <p:nvPr/>
        </p:nvSpPr>
        <p:spPr>
          <a:xfrm>
            <a:off x="914400" y="2148840"/>
            <a:ext cx="4663440" cy="54864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Module 2 lifts the floor</a:t>
            </a:r>
            <a:endParaRPr lang="en-US" sz="2200" dirty="0"/>
          </a:p>
        </p:txBody>
      </p:sp>
      <p:sp>
        <p:nvSpPr>
          <p:cNvPr id="7" name="Text 5"/>
          <p:cNvSpPr/>
          <p:nvPr/>
        </p:nvSpPr>
        <p:spPr>
          <a:xfrm>
            <a:off x="914400" y="2834640"/>
            <a:ext cx="4663440" cy="1828800"/>
          </a:xfrm>
          <a:prstGeom prst="rect">
            <a:avLst/>
          </a:prstGeom>
          <a:noFill/>
          <a:ln/>
        </p:spPr>
        <p:txBody>
          <a:bodyPr wrap="square" lIns="0" tIns="0" rIns="0" bIns="0" rtlCol="0" anchor="t"/>
          <a:lstStyle/>
          <a:p>
            <a:pPr indent="0" marL="0">
              <a:lnSpc>
                <a:spcPct val="112000"/>
              </a:lnSpc>
              <a:buNone/>
            </a:pPr>
            <a:r>
              <a:rPr lang="en-US" sz="1400" dirty="0">
                <a:solidFill>
                  <a:srgbClr val="B9B9C6"/>
                </a:solidFill>
                <a:latin typeface="Arial" pitchFamily="34" charset="0"/>
                <a:ea typeface="Arial" pitchFamily="34" charset="-122"/>
                <a:cs typeface="Arial" pitchFamily="34" charset="-120"/>
              </a:rPr>
              <a:t>Skills barely moved the average score (+48.0% → +48.6% yaw). What they moved was the variance — the worst agent climbed off the floor, deliverables matched contract, silent failures stopped.</a:t>
            </a:r>
            <a:endParaRPr lang="en-US" sz="1400" dirty="0"/>
          </a:p>
        </p:txBody>
      </p:sp>
      <p:sp>
        <p:nvSpPr>
          <p:cNvPr id="8" name="Text 6"/>
          <p:cNvSpPr/>
          <p:nvPr/>
        </p:nvSpPr>
        <p:spPr>
          <a:xfrm>
            <a:off x="914400" y="4983480"/>
            <a:ext cx="4663440" cy="320040"/>
          </a:xfrm>
          <a:prstGeom prst="rect">
            <a:avLst/>
          </a:prstGeom>
          <a:noFill/>
          <a:ln/>
        </p:spPr>
        <p:txBody>
          <a:bodyPr wrap="square" lIns="0" tIns="0" rIns="0" bIns="0" rtlCol="0" anchor="ctr"/>
          <a:lstStyle/>
          <a:p>
            <a:pPr indent="0" marL="0">
              <a:buNone/>
            </a:pPr>
            <a:r>
              <a:rPr lang="en-US" sz="1300" b="1" spc="200" kern="0" dirty="0">
                <a:solidFill>
                  <a:srgbClr val="BD2EFF"/>
                </a:solidFill>
                <a:latin typeface="Arial" pitchFamily="34" charset="0"/>
                <a:ea typeface="Arial" pitchFamily="34" charset="-122"/>
                <a:cs typeface="Arial" pitchFamily="34" charset="-120"/>
              </a:rPr>
              <a:t>RELIABILITY</a:t>
            </a:r>
            <a:endParaRPr lang="en-US" sz="1300" dirty="0"/>
          </a:p>
        </p:txBody>
      </p:sp>
      <p:sp>
        <p:nvSpPr>
          <p:cNvPr id="9" name="Text 7"/>
          <p:cNvSpPr/>
          <p:nvPr/>
        </p:nvSpPr>
        <p:spPr>
          <a:xfrm>
            <a:off x="914400" y="5303520"/>
            <a:ext cx="4663440" cy="457200"/>
          </a:xfrm>
          <a:prstGeom prst="rect">
            <a:avLst/>
          </a:prstGeom>
          <a:noFill/>
          <a:ln/>
        </p:spPr>
        <p:txBody>
          <a:bodyPr wrap="square" lIns="0" tIns="0" rIns="0" bIns="0" rtlCol="0" anchor="ctr"/>
          <a:lstStyle/>
          <a:p>
            <a:pPr indent="0" marL="0">
              <a:buNone/>
            </a:pPr>
            <a:r>
              <a:rPr lang="en-US" sz="1150" i="1" dirty="0">
                <a:solidFill>
                  <a:srgbClr val="8A8A99"/>
                </a:solidFill>
                <a:latin typeface="Arial" pitchFamily="34" charset="0"/>
                <a:ea typeface="Arial" pitchFamily="34" charset="-122"/>
                <a:cs typeface="Arial" pitchFamily="34" charset="-120"/>
              </a:rPr>
              <a:t>tighter variance · higher floor · correct packaging</a:t>
            </a:r>
            <a:endParaRPr lang="en-US" sz="1150" dirty="0"/>
          </a:p>
        </p:txBody>
      </p:sp>
      <p:sp>
        <p:nvSpPr>
          <p:cNvPr id="10" name="Shape 8"/>
          <p:cNvSpPr/>
          <p:nvPr/>
        </p:nvSpPr>
        <p:spPr>
          <a:xfrm>
            <a:off x="6263640" y="1828800"/>
            <a:ext cx="5376672" cy="4069080"/>
          </a:xfrm>
          <a:prstGeom prst="roundRect">
            <a:avLst>
              <a:gd name="adj" fmla="val 179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1" name="Shape 9"/>
          <p:cNvSpPr/>
          <p:nvPr/>
        </p:nvSpPr>
        <p:spPr>
          <a:xfrm>
            <a:off x="6263640" y="1828800"/>
            <a:ext cx="5376672" cy="109728"/>
          </a:xfrm>
          <a:prstGeom prst="rect">
            <a:avLst/>
          </a:prstGeom>
          <a:solidFill>
            <a:srgbClr val="FF7828"/>
          </a:solidFill>
          <a:ln/>
        </p:spPr>
      </p:sp>
      <p:sp>
        <p:nvSpPr>
          <p:cNvPr id="12" name="Text 10"/>
          <p:cNvSpPr/>
          <p:nvPr/>
        </p:nvSpPr>
        <p:spPr>
          <a:xfrm>
            <a:off x="6629400" y="2148840"/>
            <a:ext cx="4663440" cy="54864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Module 3 lifts the ceiling</a:t>
            </a:r>
            <a:endParaRPr lang="en-US" sz="2200" dirty="0"/>
          </a:p>
        </p:txBody>
      </p:sp>
      <p:sp>
        <p:nvSpPr>
          <p:cNvPr id="13" name="Text 11"/>
          <p:cNvSpPr/>
          <p:nvPr/>
        </p:nvSpPr>
        <p:spPr>
          <a:xfrm>
            <a:off x="6629400" y="2834640"/>
            <a:ext cx="4663440" cy="1828800"/>
          </a:xfrm>
          <a:prstGeom prst="rect">
            <a:avLst/>
          </a:prstGeom>
          <a:noFill/>
          <a:ln/>
        </p:spPr>
        <p:txBody>
          <a:bodyPr wrap="square" lIns="0" tIns="0" rIns="0" bIns="0" rtlCol="0" anchor="t"/>
          <a:lstStyle/>
          <a:p>
            <a:pPr indent="0" marL="0">
              <a:lnSpc>
                <a:spcPct val="112000"/>
              </a:lnSpc>
              <a:buNone/>
            </a:pPr>
            <a:r>
              <a:rPr lang="en-US" sz="1400" dirty="0">
                <a:solidFill>
                  <a:srgbClr val="B9B9C6"/>
                </a:solidFill>
                <a:latin typeface="Arial" pitchFamily="34" charset="0"/>
                <a:ea typeface="Arial" pitchFamily="34" charset="-122"/>
                <a:cs typeface="Arial" pitchFamily="34" charset="-120"/>
              </a:rPr>
              <a:t>Domain knowledge raised the ceiling and collapsed variance at once: +56.5% / +72.2% at σ 0.6% / 0.3%. The docs named the single highest-leverage move and the whole cohort cleared the bar.</a:t>
            </a:r>
            <a:endParaRPr lang="en-US" sz="1400" dirty="0"/>
          </a:p>
        </p:txBody>
      </p:sp>
      <p:sp>
        <p:nvSpPr>
          <p:cNvPr id="14" name="Text 12"/>
          <p:cNvSpPr/>
          <p:nvPr/>
        </p:nvSpPr>
        <p:spPr>
          <a:xfrm>
            <a:off x="6629400" y="4983480"/>
            <a:ext cx="4663440" cy="320040"/>
          </a:xfrm>
          <a:prstGeom prst="rect">
            <a:avLst/>
          </a:prstGeom>
          <a:noFill/>
          <a:ln/>
        </p:spPr>
        <p:txBody>
          <a:bodyPr wrap="square" lIns="0" tIns="0" rIns="0" bIns="0" rtlCol="0" anchor="ctr"/>
          <a:lstStyle/>
          <a:p>
            <a:pPr indent="0" marL="0">
              <a:buNone/>
            </a:pPr>
            <a:r>
              <a:rPr lang="en-US" sz="1300" b="1" spc="200" kern="0" dirty="0">
                <a:solidFill>
                  <a:srgbClr val="FF7828"/>
                </a:solidFill>
                <a:latin typeface="Arial" pitchFamily="34" charset="0"/>
                <a:ea typeface="Arial" pitchFamily="34" charset="-122"/>
                <a:cs typeface="Arial" pitchFamily="34" charset="-120"/>
              </a:rPr>
              <a:t>CAPABILITY</a:t>
            </a:r>
            <a:endParaRPr lang="en-US" sz="1300" dirty="0"/>
          </a:p>
        </p:txBody>
      </p:sp>
      <p:sp>
        <p:nvSpPr>
          <p:cNvPr id="15" name="Text 13"/>
          <p:cNvSpPr/>
          <p:nvPr/>
        </p:nvSpPr>
        <p:spPr>
          <a:xfrm>
            <a:off x="6629400" y="5303520"/>
            <a:ext cx="4663440" cy="457200"/>
          </a:xfrm>
          <a:prstGeom prst="rect">
            <a:avLst/>
          </a:prstGeom>
          <a:noFill/>
          <a:ln/>
        </p:spPr>
        <p:txBody>
          <a:bodyPr wrap="square" lIns="0" tIns="0" rIns="0" bIns="0" rtlCol="0" anchor="ctr"/>
          <a:lstStyle/>
          <a:p>
            <a:pPr indent="0" marL="0">
              <a:buNone/>
            </a:pPr>
            <a:r>
              <a:rPr lang="en-US" sz="1150" i="1" dirty="0">
                <a:solidFill>
                  <a:srgbClr val="8A8A99"/>
                </a:solidFill>
                <a:latin typeface="Arial" pitchFamily="34" charset="0"/>
                <a:ea typeface="Arial" pitchFamily="34" charset="-122"/>
                <a:cs typeface="Arial" pitchFamily="34" charset="-120"/>
              </a:rPr>
              <a:t>higher ceiling · cohort convergence</a:t>
            </a:r>
            <a:endParaRPr lang="en-US" sz="1150" dirty="0"/>
          </a:p>
        </p:txBody>
      </p:sp>
      <p:sp>
        <p:nvSpPr>
          <p:cNvPr id="16" name="Text 14"/>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7" name="Text 15"/>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Domain Knowledge</a:t>
            </a:r>
            <a:endParaRPr lang="en-US" sz="950" dirty="0"/>
          </a:p>
        </p:txBody>
      </p:sp>
      <p:sp>
        <p:nvSpPr>
          <p:cNvPr id="18" name="Text 16"/>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B24"/>
        </a:solidFill>
      </p:bgPr>
    </p:bg>
    <p:spTree>
      <p:nvGrpSpPr>
        <p:cNvPr id="1" name=""/>
        <p:cNvGrpSpPr/>
        <p:nvPr/>
      </p:nvGrpSpPr>
      <p:grpSpPr>
        <a:xfrm>
          <a:off x="0" y="0"/>
          <a:ext cx="0" cy="0"/>
          <a:chOff x="0" y="0"/>
          <a:chExt cx="0" cy="0"/>
        </a:xfrm>
      </p:grpSpPr>
      <p:sp>
        <p:nvSpPr>
          <p:cNvPr id="2" name="Shape 0"/>
          <p:cNvSpPr/>
          <p:nvPr/>
        </p:nvSpPr>
        <p:spPr>
          <a:xfrm>
            <a:off x="548640" y="457200"/>
            <a:ext cx="868680" cy="868680"/>
          </a:xfrm>
          <a:prstGeom prst="roundRect">
            <a:avLst>
              <a:gd name="adj" fmla="val 10526"/>
            </a:avLst>
          </a:prstGeom>
          <a:solidFill>
            <a:srgbClr val="0064FF"/>
          </a:solidFill>
          <a:ln/>
        </p:spPr>
      </p:sp>
      <p:sp>
        <p:nvSpPr>
          <p:cNvPr id="3" name="Text 1"/>
          <p:cNvSpPr/>
          <p:nvPr/>
        </p:nvSpPr>
        <p:spPr>
          <a:xfrm>
            <a:off x="548640" y="45720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5</a:t>
            </a:r>
            <a:endParaRPr lang="en-US" sz="3400" dirty="0"/>
          </a:p>
        </p:txBody>
      </p:sp>
      <p:sp>
        <p:nvSpPr>
          <p:cNvPr id="4" name="Text 2"/>
          <p:cNvSpPr/>
          <p:nvPr/>
        </p:nvSpPr>
        <p:spPr>
          <a:xfrm>
            <a:off x="1600200" y="475488"/>
            <a:ext cx="5486400" cy="274320"/>
          </a:xfrm>
          <a:prstGeom prst="rect">
            <a:avLst/>
          </a:prstGeom>
          <a:noFill/>
          <a:ln/>
        </p:spPr>
        <p:txBody>
          <a:bodyPr wrap="square" lIns="0" tIns="0" rIns="0" bIns="0" rtlCol="0" anchor="ctr"/>
          <a:lstStyle/>
          <a:p>
            <a:pPr indent="0" marL="0">
              <a:buNone/>
            </a:pPr>
            <a:r>
              <a:rPr lang="en-US" sz="1100" b="1" spc="200" kern="0" dirty="0">
                <a:solidFill>
                  <a:srgbClr val="0064FF"/>
                </a:solidFill>
                <a:latin typeface="Arial" pitchFamily="34" charset="0"/>
                <a:ea typeface="Arial" pitchFamily="34" charset="-122"/>
                <a:cs typeface="Arial" pitchFamily="34" charset="-120"/>
              </a:rPr>
              <a:t>PRINCIPLE</a:t>
            </a:r>
            <a:endParaRPr lang="en-US" sz="1100" dirty="0"/>
          </a:p>
        </p:txBody>
      </p:sp>
      <p:sp>
        <p:nvSpPr>
          <p:cNvPr id="5" name="Text 3"/>
          <p:cNvSpPr/>
          <p:nvPr/>
        </p:nvSpPr>
        <p:spPr>
          <a:xfrm>
            <a:off x="1600200" y="749808"/>
            <a:ext cx="9966960" cy="868680"/>
          </a:xfrm>
          <a:prstGeom prst="rect">
            <a:avLst/>
          </a:prstGeom>
          <a:noFill/>
          <a:ln/>
        </p:spPr>
        <p:txBody>
          <a:bodyPr wrap="square" lIns="0" tIns="0" rIns="0" bIns="0" rtlCol="0" anchor="t"/>
          <a:lstStyle/>
          <a:p>
            <a:pPr indent="0" marL="0">
              <a:lnSpc>
                <a:spcPct val="98000"/>
              </a:lnSpc>
              <a:buNone/>
            </a:pPr>
            <a:r>
              <a:rPr lang="en-US" sz="2500" b="1" dirty="0">
                <a:solidFill>
                  <a:srgbClr val="FFFFFF"/>
                </a:solidFill>
                <a:latin typeface="Arial" pitchFamily="34" charset="0"/>
                <a:ea typeface="Arial" pitchFamily="34" charset="-122"/>
                <a:cs typeface="Arial" pitchFamily="34" charset="-120"/>
              </a:rPr>
              <a:t>Name the single highest-leverage move — and prove it with cohort history</a:t>
            </a:r>
            <a:endParaRPr lang="en-US" sz="2500" dirty="0"/>
          </a:p>
        </p:txBody>
      </p:sp>
      <p:sp>
        <p:nvSpPr>
          <p:cNvPr id="6" name="Text 4"/>
          <p:cNvSpPr/>
          <p:nvPr/>
        </p:nvSpPr>
        <p:spPr>
          <a:xfrm>
            <a:off x="548640" y="1965960"/>
            <a:ext cx="6126480" cy="2743200"/>
          </a:xfrm>
          <a:prstGeom prst="rect">
            <a:avLst/>
          </a:prstGeom>
          <a:noFill/>
          <a:ln/>
        </p:spPr>
        <p:txBody>
          <a:bodyPr wrap="square" lIns="0" tIns="0" rIns="0" bIns="0" rtlCol="0" anchor="t"/>
          <a:lstStyle/>
          <a:p>
            <a:pPr indent="0" marL="0">
              <a:lnSpc>
                <a:spcPct val="118000"/>
              </a:lnSpc>
              <a:buNone/>
            </a:pPr>
            <a:r>
              <a:rPr lang="en-US" sz="1500" b="1" dirty="0">
                <a:solidFill>
                  <a:srgbClr val="FFFFFF"/>
                </a:solidFill>
                <a:latin typeface="Arial" pitchFamily="34" charset="0"/>
                <a:ea typeface="Arial" pitchFamily="34" charset="-122"/>
                <a:cs typeface="Arial" pitchFamily="34" charset="-120"/>
              </a:rPr>
              <a:t>Domain knowledge works when it transfers a specific, prioritised, evidenced insight — not a generic checklist.</a:t>
            </a:r>
            <a:endParaRPr lang="en-US" sz="1500" dirty="0"/>
          </a:p>
          <a:p>
            <a:pPr indent="0" marL="0">
              <a:lnSpc>
                <a:spcPct val="118000"/>
              </a:lnSpc>
              <a:buNone/>
            </a:pPr>
            <a:endParaRPr lang="en-US" sz="1500" dirty="0"/>
          </a:p>
          <a:p>
            <a:pPr indent="0" marL="0">
              <a:lnSpc>
                <a:spcPct val="118000"/>
              </a:lnSpc>
              <a:buNone/>
            </a:pPr>
            <a:r>
              <a:rPr lang="en-US" sz="1500" dirty="0">
                <a:solidFill>
                  <a:srgbClr val="B9B9C6"/>
                </a:solidFill>
                <a:latin typeface="Arial" pitchFamily="34" charset="0"/>
                <a:ea typeface="Arial" pitchFamily="34" charset="-122"/>
                <a:cs typeface="Arial" pitchFamily="34" charset="-120"/>
              </a:rPr>
              <a:t>The reference doc doesn't just list pitfalls. It says plainly which move wins on this dataset, and backs the claim with what the previous cohort actually did. That single evidenced sentence is most of why the v2 cohort converged at the ceiling.</a:t>
            </a:r>
            <a:endParaRPr lang="en-US" sz="1500" dirty="0"/>
          </a:p>
        </p:txBody>
      </p:sp>
      <p:sp>
        <p:nvSpPr>
          <p:cNvPr id="7" name="Shape 5"/>
          <p:cNvSpPr/>
          <p:nvPr/>
        </p:nvSpPr>
        <p:spPr>
          <a:xfrm>
            <a:off x="548640" y="4800600"/>
            <a:ext cx="6126480" cy="1234440"/>
          </a:xfrm>
          <a:prstGeom prst="roundRect">
            <a:avLst>
              <a:gd name="adj" fmla="val 5185"/>
            </a:avLst>
          </a:prstGeom>
          <a:solidFill>
            <a:srgbClr val="0A0B16"/>
          </a:solidFill>
          <a:ln w="12700">
            <a:solidFill>
              <a:srgbClr val="0064FF"/>
            </a:solidFill>
            <a:prstDash val="solid"/>
          </a:ln>
        </p:spPr>
      </p:sp>
      <p:sp>
        <p:nvSpPr>
          <p:cNvPr id="8" name="Text 6"/>
          <p:cNvSpPr/>
          <p:nvPr/>
        </p:nvSpPr>
        <p:spPr>
          <a:xfrm>
            <a:off x="777240" y="4956048"/>
            <a:ext cx="5669280" cy="274320"/>
          </a:xfrm>
          <a:prstGeom prst="rect">
            <a:avLst/>
          </a:prstGeom>
          <a:noFill/>
          <a:ln/>
        </p:spPr>
        <p:txBody>
          <a:bodyPr wrap="square" lIns="0" tIns="0" rIns="0" bIns="0" rtlCol="0" anchor="ctr"/>
          <a:lstStyle/>
          <a:p>
            <a:pPr indent="0" marL="0">
              <a:buNone/>
            </a:pPr>
            <a:r>
              <a:rPr lang="en-US" sz="1050" b="1" spc="150" kern="0" dirty="0">
                <a:solidFill>
                  <a:srgbClr val="0064FF"/>
                </a:solidFill>
                <a:latin typeface="Arial" pitchFamily="34" charset="0"/>
                <a:ea typeface="Arial" pitchFamily="34" charset="-122"/>
                <a:cs typeface="Arial" pitchFamily="34" charset="-120"/>
              </a:rPr>
              <a:t>WHAT ANTI-PATTERNS.MD SAYS</a:t>
            </a:r>
            <a:endParaRPr lang="en-US" sz="1050" dirty="0"/>
          </a:p>
        </p:txBody>
      </p:sp>
      <p:sp>
        <p:nvSpPr>
          <p:cNvPr id="9" name="Text 7"/>
          <p:cNvSpPr/>
          <p:nvPr/>
        </p:nvSpPr>
        <p:spPr>
          <a:xfrm>
            <a:off x="777240" y="5230368"/>
            <a:ext cx="5669280" cy="713232"/>
          </a:xfrm>
          <a:prstGeom prst="rect">
            <a:avLst/>
          </a:prstGeom>
          <a:noFill/>
          <a:ln/>
        </p:spPr>
        <p:txBody>
          <a:bodyPr wrap="square" lIns="0" tIns="0" rIns="0" bIns="0" rtlCol="0" anchor="t"/>
          <a:lstStyle/>
          <a:p>
            <a:pPr indent="0" marL="0">
              <a:lnSpc>
                <a:spcPct val="102000"/>
              </a:lnSpc>
              <a:buNone/>
            </a:pPr>
            <a:r>
              <a:rPr lang="en-US" sz="1200" i="1" dirty="0">
                <a:solidFill>
                  <a:srgbClr val="FFFFFF"/>
                </a:solidFill>
                <a:latin typeface="Arial" pitchFamily="34" charset="0"/>
                <a:ea typeface="Arial" pitchFamily="34" charset="-122"/>
                <a:cs typeface="Arial" pitchFamily="34" charset="-120"/>
              </a:rPr>
              <a:t>“The three top-tier agents all shipped per-segment offset estimation; the three bottom-tier agents all missed it — a +8 pt yaw / +15 pt CTE gap, model form otherwise identical.”</a:t>
            </a:r>
            <a:endParaRPr lang="en-US" sz="1200" dirty="0"/>
          </a:p>
        </p:txBody>
      </p:sp>
      <p:sp>
        <p:nvSpPr>
          <p:cNvPr id="10" name="Shape 8"/>
          <p:cNvSpPr/>
          <p:nvPr/>
        </p:nvSpPr>
        <p:spPr>
          <a:xfrm>
            <a:off x="6903720" y="1965960"/>
            <a:ext cx="4736592" cy="4069080"/>
          </a:xfrm>
          <a:prstGeom prst="roundRect">
            <a:avLst>
              <a:gd name="adj" fmla="val 179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1" name="Text 9"/>
          <p:cNvSpPr/>
          <p:nvPr/>
        </p:nvSpPr>
        <p:spPr>
          <a:xfrm>
            <a:off x="7178040" y="2194560"/>
            <a:ext cx="420624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The gap the insight closed</a:t>
            </a:r>
            <a:endParaRPr lang="en-US" sz="1400" dirty="0"/>
          </a:p>
        </p:txBody>
      </p:sp>
      <p:sp>
        <p:nvSpPr>
          <p:cNvPr id="12" name="Text 10"/>
          <p:cNvSpPr/>
          <p:nvPr/>
        </p:nvSpPr>
        <p:spPr>
          <a:xfrm>
            <a:off x="7178040" y="2697480"/>
            <a:ext cx="4206240" cy="822960"/>
          </a:xfrm>
          <a:prstGeom prst="rect">
            <a:avLst/>
          </a:prstGeom>
          <a:noFill/>
          <a:ln/>
        </p:spPr>
        <p:txBody>
          <a:bodyPr wrap="square" lIns="0" tIns="0" rIns="0" bIns="0" rtlCol="0" anchor="ctr"/>
          <a:lstStyle/>
          <a:p>
            <a:pPr indent="0" marL="0">
              <a:buNone/>
            </a:pPr>
            <a:r>
              <a:rPr lang="en-US" sz="4400" b="1" dirty="0">
                <a:solidFill>
                  <a:srgbClr val="3D89FF"/>
                </a:solidFill>
                <a:latin typeface="Arial" pitchFamily="34" charset="0"/>
                <a:ea typeface="Arial" pitchFamily="34" charset="-122"/>
                <a:cs typeface="Arial" pitchFamily="34" charset="-120"/>
              </a:rPr>
              <a:t>+8</a:t>
            </a:r>
            <a:pPr indent="0" marL="0">
              <a:buNone/>
            </a:pPr>
            <a:r>
              <a:rPr lang="en-US" sz="4400" dirty="0">
                <a:solidFill>
                  <a:srgbClr val="B9B9C6"/>
                </a:solidFill>
                <a:latin typeface="Arial" pitchFamily="34" charset="0"/>
                <a:ea typeface="Arial" pitchFamily="34" charset="-122"/>
                <a:cs typeface="Arial" pitchFamily="34" charset="-120"/>
              </a:rPr>
              <a:t> pts</a:t>
            </a:r>
            <a:endParaRPr lang="en-US" sz="4400" dirty="0"/>
          </a:p>
        </p:txBody>
      </p:sp>
      <p:sp>
        <p:nvSpPr>
          <p:cNvPr id="13" name="Text 11"/>
          <p:cNvSpPr/>
          <p:nvPr/>
        </p:nvSpPr>
        <p:spPr>
          <a:xfrm>
            <a:off x="7178040" y="3520440"/>
            <a:ext cx="4206240" cy="320040"/>
          </a:xfrm>
          <a:prstGeom prst="rect">
            <a:avLst/>
          </a:prstGeom>
          <a:noFill/>
          <a:ln/>
        </p:spPr>
        <p:txBody>
          <a:bodyPr wrap="square" lIns="0" tIns="0" rIns="0" bIns="0" rtlCol="0" anchor="ctr"/>
          <a:lstStyle/>
          <a:p>
            <a:pPr indent="0" marL="0">
              <a:buNone/>
            </a:pPr>
            <a:r>
              <a:rPr lang="en-US" sz="1100" dirty="0">
                <a:solidFill>
                  <a:srgbClr val="B9B9C6"/>
                </a:solidFill>
                <a:latin typeface="Arial" pitchFamily="34" charset="0"/>
                <a:ea typeface="Arial" pitchFamily="34" charset="-122"/>
                <a:cs typeface="Arial" pitchFamily="34" charset="-120"/>
              </a:rPr>
              <a:t>yaw-rate fidelity — top-three vs bottom-three</a:t>
            </a:r>
            <a:endParaRPr lang="en-US" sz="1100" dirty="0"/>
          </a:p>
        </p:txBody>
      </p:sp>
      <p:sp>
        <p:nvSpPr>
          <p:cNvPr id="14" name="Text 12"/>
          <p:cNvSpPr/>
          <p:nvPr/>
        </p:nvSpPr>
        <p:spPr>
          <a:xfrm>
            <a:off x="7178040" y="3977640"/>
            <a:ext cx="4206240" cy="822960"/>
          </a:xfrm>
          <a:prstGeom prst="rect">
            <a:avLst/>
          </a:prstGeom>
          <a:noFill/>
          <a:ln/>
        </p:spPr>
        <p:txBody>
          <a:bodyPr wrap="square" lIns="0" tIns="0" rIns="0" bIns="0" rtlCol="0" anchor="ctr"/>
          <a:lstStyle/>
          <a:p>
            <a:pPr indent="0" marL="0">
              <a:buNone/>
            </a:pPr>
            <a:r>
              <a:rPr lang="en-US" sz="4400" b="1" dirty="0">
                <a:solidFill>
                  <a:srgbClr val="FE9353"/>
                </a:solidFill>
                <a:latin typeface="Arial" pitchFamily="34" charset="0"/>
                <a:ea typeface="Arial" pitchFamily="34" charset="-122"/>
                <a:cs typeface="Arial" pitchFamily="34" charset="-120"/>
              </a:rPr>
              <a:t>+15</a:t>
            </a:r>
            <a:pPr indent="0" marL="0">
              <a:buNone/>
            </a:pPr>
            <a:r>
              <a:rPr lang="en-US" sz="4400" dirty="0">
                <a:solidFill>
                  <a:srgbClr val="B9B9C6"/>
                </a:solidFill>
                <a:latin typeface="Arial" pitchFamily="34" charset="0"/>
                <a:ea typeface="Arial" pitchFamily="34" charset="-122"/>
                <a:cs typeface="Arial" pitchFamily="34" charset="-120"/>
              </a:rPr>
              <a:t> pts</a:t>
            </a:r>
            <a:endParaRPr lang="en-US" sz="4400" dirty="0"/>
          </a:p>
        </p:txBody>
      </p:sp>
      <p:sp>
        <p:nvSpPr>
          <p:cNvPr id="15" name="Text 13"/>
          <p:cNvSpPr/>
          <p:nvPr/>
        </p:nvSpPr>
        <p:spPr>
          <a:xfrm>
            <a:off x="7178040" y="4800600"/>
            <a:ext cx="4206240" cy="548640"/>
          </a:xfrm>
          <a:prstGeom prst="rect">
            <a:avLst/>
          </a:prstGeom>
          <a:noFill/>
          <a:ln/>
        </p:spPr>
        <p:txBody>
          <a:bodyPr wrap="square" lIns="0" tIns="0" rIns="0" bIns="0" rtlCol="0" anchor="ctr"/>
          <a:lstStyle/>
          <a:p>
            <a:pPr indent="0" marL="0">
              <a:lnSpc>
                <a:spcPct val="100000"/>
              </a:lnSpc>
              <a:buNone/>
            </a:pPr>
            <a:r>
              <a:rPr lang="en-US" sz="1100" dirty="0">
                <a:solidFill>
                  <a:srgbClr val="B9B9C6"/>
                </a:solidFill>
                <a:latin typeface="Arial" pitchFamily="34" charset="0"/>
                <a:ea typeface="Arial" pitchFamily="34" charset="-122"/>
                <a:cs typeface="Arial" pitchFamily="34" charset="-120"/>
              </a:rPr>
              <a:t>cross-track error — same single move, model form identical</a:t>
            </a:r>
            <a:endParaRPr lang="en-US" sz="1100" dirty="0"/>
          </a:p>
        </p:txBody>
      </p:sp>
      <p:sp>
        <p:nvSpPr>
          <p:cNvPr id="16" name="Text 14"/>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7" name="Text 15"/>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Principle 1</a:t>
            </a:r>
            <a:endParaRPr lang="en-US" sz="950" dirty="0"/>
          </a:p>
        </p:txBody>
      </p:sp>
      <p:sp>
        <p:nvSpPr>
          <p:cNvPr id="18" name="Text 16"/>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B16"/>
        </a:solidFill>
      </p:bgPr>
    </p:bg>
    <p:spTree>
      <p:nvGrpSpPr>
        <p:cNvPr id="1" name=""/>
        <p:cNvGrpSpPr/>
        <p:nvPr/>
      </p:nvGrpSpPr>
      <p:grpSpPr>
        <a:xfrm>
          <a:off x="0" y="0"/>
          <a:ext cx="0" cy="0"/>
          <a:chOff x="0" y="0"/>
          <a:chExt cx="0" cy="0"/>
        </a:xfrm>
      </p:grpSpPr>
      <p:sp>
        <p:nvSpPr>
          <p:cNvPr id="2" name="Shape 0"/>
          <p:cNvSpPr/>
          <p:nvPr/>
        </p:nvSpPr>
        <p:spPr>
          <a:xfrm>
            <a:off x="548640" y="457200"/>
            <a:ext cx="868680" cy="868680"/>
          </a:xfrm>
          <a:prstGeom prst="roundRect">
            <a:avLst>
              <a:gd name="adj" fmla="val 10526"/>
            </a:avLst>
          </a:prstGeom>
          <a:solidFill>
            <a:srgbClr val="BD2EFF"/>
          </a:solidFill>
          <a:ln/>
        </p:spPr>
      </p:sp>
      <p:sp>
        <p:nvSpPr>
          <p:cNvPr id="3" name="Text 1"/>
          <p:cNvSpPr/>
          <p:nvPr/>
        </p:nvSpPr>
        <p:spPr>
          <a:xfrm>
            <a:off x="548640" y="45720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6</a:t>
            </a:r>
            <a:endParaRPr lang="en-US" sz="3400" dirty="0"/>
          </a:p>
        </p:txBody>
      </p:sp>
      <p:sp>
        <p:nvSpPr>
          <p:cNvPr id="4" name="Text 2"/>
          <p:cNvSpPr/>
          <p:nvPr/>
        </p:nvSpPr>
        <p:spPr>
          <a:xfrm>
            <a:off x="1600200" y="475488"/>
            <a:ext cx="5486400" cy="274320"/>
          </a:xfrm>
          <a:prstGeom prst="rect">
            <a:avLst/>
          </a:prstGeom>
          <a:noFill/>
          <a:ln/>
        </p:spPr>
        <p:txBody>
          <a:bodyPr wrap="square" lIns="0" tIns="0" rIns="0" bIns="0" rtlCol="0" anchor="ctr"/>
          <a:lstStyle/>
          <a:p>
            <a:pPr indent="0" marL="0">
              <a:buNone/>
            </a:pPr>
            <a:r>
              <a:rPr lang="en-US" sz="1100" b="1" spc="200" kern="0" dirty="0">
                <a:solidFill>
                  <a:srgbClr val="BD2EFF"/>
                </a:solidFill>
                <a:latin typeface="Arial" pitchFamily="34" charset="0"/>
                <a:ea typeface="Arial" pitchFamily="34" charset="-122"/>
                <a:cs typeface="Arial" pitchFamily="34" charset="-120"/>
              </a:rPr>
              <a:t>PRINCIPLE</a:t>
            </a:r>
            <a:endParaRPr lang="en-US" sz="1100" dirty="0"/>
          </a:p>
        </p:txBody>
      </p:sp>
      <p:sp>
        <p:nvSpPr>
          <p:cNvPr id="5" name="Text 3"/>
          <p:cNvSpPr/>
          <p:nvPr/>
        </p:nvSpPr>
        <p:spPr>
          <a:xfrm>
            <a:off x="1600200" y="749808"/>
            <a:ext cx="9966960" cy="868680"/>
          </a:xfrm>
          <a:prstGeom prst="rect">
            <a:avLst/>
          </a:prstGeom>
          <a:noFill/>
          <a:ln/>
        </p:spPr>
        <p:txBody>
          <a:bodyPr wrap="square" lIns="0" tIns="0" rIns="0" bIns="0" rtlCol="0" anchor="t"/>
          <a:lstStyle/>
          <a:p>
            <a:pPr indent="0" marL="0">
              <a:lnSpc>
                <a:spcPct val="98000"/>
              </a:lnSpc>
              <a:buNone/>
            </a:pPr>
            <a:r>
              <a:rPr lang="en-US" sz="2500" b="1" dirty="0">
                <a:solidFill>
                  <a:srgbClr val="FFFFFF"/>
                </a:solidFill>
                <a:latin typeface="Arial" pitchFamily="34" charset="0"/>
                <a:ea typeface="Arial" pitchFamily="34" charset="-122"/>
                <a:cs typeface="Arial" pitchFamily="34" charset="-120"/>
              </a:rPr>
              <a:t>Encode judgement as loadable references with their own metadata and load-cost</a:t>
            </a:r>
            <a:endParaRPr lang="en-US" sz="2500" dirty="0"/>
          </a:p>
        </p:txBody>
      </p:sp>
      <p:sp>
        <p:nvSpPr>
          <p:cNvPr id="6" name="Text 4"/>
          <p:cNvSpPr/>
          <p:nvPr/>
        </p:nvSpPr>
        <p:spPr>
          <a:xfrm>
            <a:off x="548640" y="1965960"/>
            <a:ext cx="6126480" cy="2743200"/>
          </a:xfrm>
          <a:prstGeom prst="rect">
            <a:avLst/>
          </a:prstGeom>
          <a:noFill/>
          <a:ln/>
        </p:spPr>
        <p:txBody>
          <a:bodyPr wrap="square" lIns="0" tIns="0" rIns="0" bIns="0" rtlCol="0" anchor="t"/>
          <a:lstStyle/>
          <a:p>
            <a:pPr indent="0" marL="0">
              <a:lnSpc>
                <a:spcPct val="118000"/>
              </a:lnSpc>
              <a:spcAft>
                <a:spcPts val="800"/>
              </a:spcAft>
              <a:buNone/>
            </a:pPr>
            <a:r>
              <a:rPr lang="en-US" sz="1500" dirty="0">
                <a:solidFill>
                  <a:srgbClr val="B9B9C6"/>
                </a:solidFill>
                <a:latin typeface="Arial" pitchFamily="34" charset="0"/>
                <a:ea typeface="Arial" pitchFamily="34" charset="-122"/>
                <a:cs typeface="Arial" pitchFamily="34" charset="-120"/>
              </a:rPr>
              <a:t>Each reference doc has frontmatter: when-to-load and an explicit load-cost (~600–1000 words). The agent is told when a doc earns its place in context — and what it costs.</a:t>
            </a:r>
            <a:endParaRPr lang="en-US" sz="1500" dirty="0"/>
          </a:p>
          <a:p>
            <a:pPr indent="0" marL="0">
              <a:lnSpc>
                <a:spcPct val="118000"/>
              </a:lnSpc>
              <a:spcAft>
                <a:spcPts val="800"/>
              </a:spcAft>
              <a:buNone/>
            </a:pPr>
            <a:endParaRPr lang="en-US" sz="1500" dirty="0"/>
          </a:p>
          <a:p>
            <a:pPr indent="0" marL="0">
              <a:lnSpc>
                <a:spcPct val="118000"/>
              </a:lnSpc>
              <a:spcAft>
                <a:spcPts val="800"/>
              </a:spcAft>
              <a:buNone/>
            </a:pPr>
            <a:r>
              <a:rPr lang="en-US" sz="1500" b="1" dirty="0">
                <a:solidFill>
                  <a:srgbClr val="FFFFFF"/>
                </a:solidFill>
                <a:latin typeface="Arial" pitchFamily="34" charset="0"/>
                <a:ea typeface="Arial" pitchFamily="34" charset="-122"/>
                <a:cs typeface="Arial" pitchFamily="34" charset="-120"/>
              </a:rPr>
              <a:t>This is progressive disclosure applied to knowledge, not just tools. Domain knowledge that is always-on is just context rot waiting to happen.</a:t>
            </a:r>
            <a:endParaRPr lang="en-US" sz="1500" dirty="0"/>
          </a:p>
        </p:txBody>
      </p:sp>
      <p:sp>
        <p:nvSpPr>
          <p:cNvPr id="7" name="Shape 5"/>
          <p:cNvSpPr/>
          <p:nvPr/>
        </p:nvSpPr>
        <p:spPr>
          <a:xfrm>
            <a:off x="548640" y="4800600"/>
            <a:ext cx="6126480" cy="1234440"/>
          </a:xfrm>
          <a:prstGeom prst="roundRect">
            <a:avLst>
              <a:gd name="adj" fmla="val 5185"/>
            </a:avLst>
          </a:prstGeom>
          <a:solidFill>
            <a:srgbClr val="0A0B24"/>
          </a:solidFill>
          <a:ln w="12700">
            <a:solidFill>
              <a:srgbClr val="BD2EFF"/>
            </a:solidFill>
            <a:prstDash val="solid"/>
          </a:ln>
        </p:spPr>
      </p:sp>
      <p:sp>
        <p:nvSpPr>
          <p:cNvPr id="8" name="Text 6"/>
          <p:cNvSpPr/>
          <p:nvPr/>
        </p:nvSpPr>
        <p:spPr>
          <a:xfrm>
            <a:off x="777240" y="4956048"/>
            <a:ext cx="5669280" cy="274320"/>
          </a:xfrm>
          <a:prstGeom prst="rect">
            <a:avLst/>
          </a:prstGeom>
          <a:noFill/>
          <a:ln/>
        </p:spPr>
        <p:txBody>
          <a:bodyPr wrap="square" lIns="0" tIns="0" rIns="0" bIns="0" rtlCol="0" anchor="ctr"/>
          <a:lstStyle/>
          <a:p>
            <a:pPr indent="0" marL="0">
              <a:buNone/>
            </a:pPr>
            <a:r>
              <a:rPr lang="en-US" sz="1050" b="1" spc="150" kern="0" dirty="0">
                <a:solidFill>
                  <a:srgbClr val="BD2EFF"/>
                </a:solidFill>
                <a:latin typeface="Arial" pitchFamily="34" charset="0"/>
                <a:ea typeface="Arial" pitchFamily="34" charset="-122"/>
                <a:cs typeface="Arial" pitchFamily="34" charset="-120"/>
              </a:rPr>
              <a:t>THE ECONOMICS</a:t>
            </a:r>
            <a:endParaRPr lang="en-US" sz="1050" dirty="0"/>
          </a:p>
        </p:txBody>
      </p:sp>
      <p:sp>
        <p:nvSpPr>
          <p:cNvPr id="9" name="Text 7"/>
          <p:cNvSpPr/>
          <p:nvPr/>
        </p:nvSpPr>
        <p:spPr>
          <a:xfrm>
            <a:off x="777240" y="5230368"/>
            <a:ext cx="5669280" cy="713232"/>
          </a:xfrm>
          <a:prstGeom prst="rect">
            <a:avLst/>
          </a:prstGeom>
          <a:noFill/>
          <a:ln/>
        </p:spPr>
        <p:txBody>
          <a:bodyPr wrap="square" lIns="0" tIns="0" rIns="0" bIns="0" rtlCol="0" anchor="t"/>
          <a:lstStyle/>
          <a:p>
            <a:pPr indent="0" marL="0">
              <a:lnSpc>
                <a:spcPct val="105000"/>
              </a:lnSpc>
              <a:buNone/>
            </a:pPr>
            <a:r>
              <a:rPr lang="en-US" sz="1250" i="1" dirty="0">
                <a:solidFill>
                  <a:srgbClr val="FFFFFF"/>
                </a:solidFill>
                <a:latin typeface="Arial" pitchFamily="34" charset="0"/>
                <a:ea typeface="Arial" pitchFamily="34" charset="-122"/>
                <a:cs typeface="Arial" pitchFamily="34" charset="-120"/>
              </a:rPr>
              <a:t>Always-loaded AGENTS.md ≈ 944 tokens every turn. The equivalent skill ≈ 53 tokens — metadata only, body pulled on demand.</a:t>
            </a:r>
            <a:endParaRPr lang="en-US" sz="1250" dirty="0"/>
          </a:p>
        </p:txBody>
      </p:sp>
      <p:sp>
        <p:nvSpPr>
          <p:cNvPr id="10" name="Shape 8"/>
          <p:cNvSpPr/>
          <p:nvPr/>
        </p:nvSpPr>
        <p:spPr>
          <a:xfrm>
            <a:off x="6903720" y="1965960"/>
            <a:ext cx="4736592" cy="4069080"/>
          </a:xfrm>
          <a:prstGeom prst="roundRect">
            <a:avLst>
              <a:gd name="adj" fmla="val 179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1" name="Shape 9"/>
          <p:cNvSpPr/>
          <p:nvPr/>
        </p:nvSpPr>
        <p:spPr>
          <a:xfrm>
            <a:off x="7223760" y="2258568"/>
            <a:ext cx="777240" cy="777240"/>
          </a:xfrm>
          <a:prstGeom prst="ellipse">
            <a:avLst/>
          </a:prstGeom>
          <a:solidFill>
            <a:srgbClr val="BD2EFF"/>
          </a:solidFill>
          <a:ln/>
        </p:spPr>
      </p:sp>
      <p:sp>
        <p:nvSpPr>
          <p:cNvPr id="12" name="Text 10"/>
          <p:cNvSpPr/>
          <p:nvPr/>
        </p:nvSpPr>
        <p:spPr>
          <a:xfrm>
            <a:off x="7223760" y="2258568"/>
            <a:ext cx="777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BZ</a:t>
            </a:r>
            <a:endParaRPr lang="en-US" sz="2100" dirty="0"/>
          </a:p>
        </p:txBody>
      </p:sp>
      <p:sp>
        <p:nvSpPr>
          <p:cNvPr id="13" name="Text 11"/>
          <p:cNvSpPr/>
          <p:nvPr/>
        </p:nvSpPr>
        <p:spPr>
          <a:xfrm>
            <a:off x="8275320" y="2276856"/>
            <a:ext cx="3044952"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Barry Zhang &amp; Mahesh Murag</a:t>
            </a:r>
            <a:endParaRPr lang="en-US" sz="1600" dirty="0"/>
          </a:p>
        </p:txBody>
      </p:sp>
      <p:sp>
        <p:nvSpPr>
          <p:cNvPr id="14" name="Text 12"/>
          <p:cNvSpPr/>
          <p:nvPr/>
        </p:nvSpPr>
        <p:spPr>
          <a:xfrm>
            <a:off x="8275320" y="2679192"/>
            <a:ext cx="3044952" cy="457200"/>
          </a:xfrm>
          <a:prstGeom prst="rect">
            <a:avLst/>
          </a:prstGeom>
          <a:noFill/>
          <a:ln/>
        </p:spPr>
        <p:txBody>
          <a:bodyPr wrap="square" lIns="0" tIns="0" rIns="0" bIns="0" rtlCol="0" anchor="t"/>
          <a:lstStyle/>
          <a:p>
            <a:pPr algn="l" indent="0" marL="0">
              <a:lnSpc>
                <a:spcPct val="100000"/>
              </a:lnSpc>
              <a:buNone/>
            </a:pPr>
            <a:r>
              <a:rPr lang="en-US" sz="1050" dirty="0">
                <a:solidFill>
                  <a:srgbClr val="B9B9C6"/>
                </a:solidFill>
                <a:latin typeface="Arial" pitchFamily="34" charset="0"/>
                <a:ea typeface="Arial" pitchFamily="34" charset="-122"/>
                <a:cs typeface="Arial" pitchFamily="34" charset="-120"/>
              </a:rPr>
              <a:t>Anthropic · “Don't Build Agents, Build Skills Instead”</a:t>
            </a:r>
            <a:endParaRPr lang="en-US" sz="1050" dirty="0"/>
          </a:p>
        </p:txBody>
      </p:sp>
      <p:sp>
        <p:nvSpPr>
          <p:cNvPr id="15" name="Text 13"/>
          <p:cNvSpPr/>
          <p:nvPr/>
        </p:nvSpPr>
        <p:spPr>
          <a:xfrm>
            <a:off x="7269480" y="3246120"/>
            <a:ext cx="4005072" cy="1371600"/>
          </a:xfrm>
          <a:prstGeom prst="rect">
            <a:avLst/>
          </a:prstGeom>
          <a:noFill/>
          <a:ln/>
        </p:spPr>
        <p:txBody>
          <a:bodyPr wrap="square" lIns="0" tIns="0" rIns="0" bIns="0" rtlCol="0" anchor="t"/>
          <a:lstStyle/>
          <a:p>
            <a:pPr algn="l" indent="0" marL="0">
              <a:lnSpc>
                <a:spcPct val="106000"/>
              </a:lnSpc>
              <a:buNone/>
            </a:pPr>
            <a:r>
              <a:rPr lang="en-US" sz="1300" b="1" dirty="0">
                <a:solidFill>
                  <a:srgbClr val="BD2EFF"/>
                </a:solidFill>
                <a:latin typeface="Arial" pitchFamily="34" charset="0"/>
                <a:ea typeface="Arial" pitchFamily="34" charset="-122"/>
                <a:cs typeface="Arial" pitchFamily="34" charset="-120"/>
              </a:rPr>
              <a:t>“</a:t>
            </a:r>
            <a:pPr algn="l" indent="0" marL="0">
              <a:lnSpc>
                <a:spcPct val="106000"/>
              </a:lnSpc>
              <a:buNone/>
            </a:pPr>
            <a:r>
              <a:rPr lang="en-US" sz="1300" i="1" dirty="0">
                <a:solidFill>
                  <a:srgbClr val="FFFFFF"/>
                </a:solidFill>
                <a:latin typeface="Arial" pitchFamily="34" charset="0"/>
                <a:ea typeface="Arial" pitchFamily="34" charset="-122"/>
                <a:cs typeface="Arial" pitchFamily="34" charset="-120"/>
              </a:rPr>
              <a:t>The future is not many agents. It's one universal agent powered by a library of domain-specific skills.</a:t>
            </a:r>
            <a:pPr algn="l" indent="0" marL="0">
              <a:lnSpc>
                <a:spcPct val="106000"/>
              </a:lnSpc>
              <a:buNone/>
            </a:pPr>
            <a:r>
              <a:rPr lang="en-US" sz="1300" b="1" dirty="0">
                <a:solidFill>
                  <a:srgbClr val="BD2EFF"/>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7269480" y="5468112"/>
            <a:ext cx="4005072" cy="457200"/>
          </a:xfrm>
          <a:prstGeom prst="rect">
            <a:avLst/>
          </a:prstGeom>
          <a:noFill/>
          <a:ln/>
        </p:spPr>
        <p:txBody>
          <a:bodyPr wrap="square" lIns="0" tIns="0" rIns="0" bIns="0" rtlCol="0" anchor="t"/>
          <a:lstStyle/>
          <a:p>
            <a:pPr algn="l" indent="0" marL="0">
              <a:lnSpc>
                <a:spcPct val="100000"/>
              </a:lnSpc>
              <a:buNone/>
            </a:pPr>
            <a:r>
              <a:rPr lang="en-US" sz="950" dirty="0">
                <a:solidFill>
                  <a:srgbClr val="BD2EFF"/>
                </a:solidFill>
                <a:latin typeface="Arial" pitchFamily="34" charset="0"/>
                <a:ea typeface="Arial" pitchFamily="34" charset="-122"/>
                <a:cs typeface="Arial" pitchFamily="34" charset="-120"/>
              </a:rPr>
              <a:t>▶  </a:t>
            </a:r>
            <a:pPr algn="l" indent="0" marL="0">
              <a:lnSpc>
                <a:spcPct val="100000"/>
              </a:lnSpc>
              <a:buNone/>
            </a:pPr>
            <a:r>
              <a:rPr lang="en-US" sz="950" u="sng" dirty="0">
                <a:solidFill>
                  <a:srgbClr val="3D89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AI Engineer Code Summit (YouTube)</a:t>
            </a:r>
            <a:endParaRPr lang="en-US" sz="950" dirty="0"/>
          </a:p>
        </p:txBody>
      </p:sp>
      <p:sp>
        <p:nvSpPr>
          <p:cNvPr id="17" name="Text 15"/>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8" name="Text 16"/>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Principle 2 · NC-12</a:t>
            </a:r>
            <a:endParaRPr lang="en-US" sz="950" dirty="0"/>
          </a:p>
        </p:txBody>
      </p:sp>
      <p:sp>
        <p:nvSpPr>
          <p:cNvPr id="19" name="Text 17"/>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B24"/>
        </a:solidFill>
      </p:bgPr>
    </p:bg>
    <p:spTree>
      <p:nvGrpSpPr>
        <p:cNvPr id="1" name=""/>
        <p:cNvGrpSpPr/>
        <p:nvPr/>
      </p:nvGrpSpPr>
      <p:grpSpPr>
        <a:xfrm>
          <a:off x="0" y="0"/>
          <a:ext cx="0" cy="0"/>
          <a:chOff x="0" y="0"/>
          <a:chExt cx="0" cy="0"/>
        </a:xfrm>
      </p:grpSpPr>
      <p:sp>
        <p:nvSpPr>
          <p:cNvPr id="2" name="Shape 0"/>
          <p:cNvSpPr/>
          <p:nvPr/>
        </p:nvSpPr>
        <p:spPr>
          <a:xfrm>
            <a:off x="548640" y="457200"/>
            <a:ext cx="868680" cy="868680"/>
          </a:xfrm>
          <a:prstGeom prst="roundRect">
            <a:avLst>
              <a:gd name="adj" fmla="val 10526"/>
            </a:avLst>
          </a:prstGeom>
          <a:solidFill>
            <a:srgbClr val="FF7828"/>
          </a:solidFill>
          <a:ln/>
        </p:spPr>
      </p:sp>
      <p:sp>
        <p:nvSpPr>
          <p:cNvPr id="3" name="Text 1"/>
          <p:cNvSpPr/>
          <p:nvPr/>
        </p:nvSpPr>
        <p:spPr>
          <a:xfrm>
            <a:off x="548640" y="45720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7</a:t>
            </a:r>
            <a:endParaRPr lang="en-US" sz="3400" dirty="0"/>
          </a:p>
        </p:txBody>
      </p:sp>
      <p:sp>
        <p:nvSpPr>
          <p:cNvPr id="4" name="Text 2"/>
          <p:cNvSpPr/>
          <p:nvPr/>
        </p:nvSpPr>
        <p:spPr>
          <a:xfrm>
            <a:off x="1600200" y="475488"/>
            <a:ext cx="5486400" cy="274320"/>
          </a:xfrm>
          <a:prstGeom prst="rect">
            <a:avLst/>
          </a:prstGeom>
          <a:noFill/>
          <a:ln/>
        </p:spPr>
        <p:txBody>
          <a:bodyPr wrap="square" lIns="0" tIns="0" rIns="0" bIns="0" rtlCol="0" anchor="ctr"/>
          <a:lstStyle/>
          <a:p>
            <a:pPr indent="0" marL="0">
              <a:buNone/>
            </a:pPr>
            <a:r>
              <a:rPr lang="en-US" sz="1100" b="1" spc="200" kern="0" dirty="0">
                <a:solidFill>
                  <a:srgbClr val="FF7828"/>
                </a:solidFill>
                <a:latin typeface="Arial" pitchFamily="34" charset="0"/>
                <a:ea typeface="Arial" pitchFamily="34" charset="-122"/>
                <a:cs typeface="Arial" pitchFamily="34" charset="-120"/>
              </a:rPr>
              <a:t>PRINCIPLE</a:t>
            </a:r>
            <a:endParaRPr lang="en-US" sz="1100" dirty="0"/>
          </a:p>
        </p:txBody>
      </p:sp>
      <p:sp>
        <p:nvSpPr>
          <p:cNvPr id="5" name="Text 3"/>
          <p:cNvSpPr/>
          <p:nvPr/>
        </p:nvSpPr>
        <p:spPr>
          <a:xfrm>
            <a:off x="1600200" y="749808"/>
            <a:ext cx="9966960" cy="868680"/>
          </a:xfrm>
          <a:prstGeom prst="rect">
            <a:avLst/>
          </a:prstGeom>
          <a:noFill/>
          <a:ln/>
        </p:spPr>
        <p:txBody>
          <a:bodyPr wrap="square" lIns="0" tIns="0" rIns="0" bIns="0" rtlCol="0" anchor="t"/>
          <a:lstStyle/>
          <a:p>
            <a:pPr indent="0" marL="0">
              <a:lnSpc>
                <a:spcPct val="98000"/>
              </a:lnSpc>
              <a:buNone/>
            </a:pPr>
            <a:r>
              <a:rPr lang="en-US" sz="2500" b="1" dirty="0">
                <a:solidFill>
                  <a:srgbClr val="FFFFFF"/>
                </a:solidFill>
                <a:latin typeface="Arial" pitchFamily="34" charset="0"/>
                <a:ea typeface="Arial" pitchFamily="34" charset="-122"/>
                <a:cs typeface="Arial" pitchFamily="34" charset="-120"/>
              </a:rPr>
              <a:t>Teach the metric, not just the target</a:t>
            </a:r>
            <a:endParaRPr lang="en-US" sz="2500" dirty="0"/>
          </a:p>
        </p:txBody>
      </p:sp>
      <p:sp>
        <p:nvSpPr>
          <p:cNvPr id="6" name="Text 4"/>
          <p:cNvSpPr/>
          <p:nvPr/>
        </p:nvSpPr>
        <p:spPr>
          <a:xfrm>
            <a:off x="548640" y="1965960"/>
            <a:ext cx="6126480" cy="2743200"/>
          </a:xfrm>
          <a:prstGeom prst="rect">
            <a:avLst/>
          </a:prstGeom>
          <a:noFill/>
          <a:ln/>
        </p:spPr>
        <p:txBody>
          <a:bodyPr wrap="square" lIns="0" tIns="0" rIns="0" bIns="0" rtlCol="0" anchor="t"/>
          <a:lstStyle/>
          <a:p>
            <a:pPr indent="0" marL="0">
              <a:lnSpc>
                <a:spcPct val="118000"/>
              </a:lnSpc>
              <a:spcAft>
                <a:spcPts val="800"/>
              </a:spcAft>
              <a:buNone/>
            </a:pPr>
            <a:r>
              <a:rPr lang="en-US" sz="1500" dirty="0">
                <a:solidFill>
                  <a:srgbClr val="B9B9C6"/>
                </a:solidFill>
                <a:latin typeface="Arial" pitchFamily="34" charset="0"/>
                <a:ea typeface="Arial" pitchFamily="34" charset="-122"/>
                <a:cs typeface="Arial" pitchFamily="34" charset="-120"/>
              </a:rPr>
              <a:t>The reference doc explains why the two KPIs diverge — a small bias hurts cross-track error far more than yaw RMSE, because CTE is a double integral of yaw error — and gives a four-pattern diagnostic table.</a:t>
            </a:r>
            <a:endParaRPr lang="en-US" sz="1500" dirty="0"/>
          </a:p>
          <a:p>
            <a:pPr indent="0" marL="0">
              <a:lnSpc>
                <a:spcPct val="118000"/>
              </a:lnSpc>
              <a:spcAft>
                <a:spcPts val="800"/>
              </a:spcAft>
              <a:buNone/>
            </a:pPr>
            <a:endParaRPr lang="en-US" sz="1500" dirty="0"/>
          </a:p>
          <a:p>
            <a:pPr indent="0" marL="0">
              <a:lnSpc>
                <a:spcPct val="118000"/>
              </a:lnSpc>
              <a:spcAft>
                <a:spcPts val="800"/>
              </a:spcAft>
              <a:buNone/>
            </a:pPr>
            <a:r>
              <a:rPr lang="en-US" sz="1500" b="1" dirty="0">
                <a:solidFill>
                  <a:srgbClr val="FFFFFF"/>
                </a:solidFill>
                <a:latin typeface="Arial" pitchFamily="34" charset="0"/>
                <a:ea typeface="Arial" pitchFamily="34" charset="-122"/>
                <a:cs typeface="Arial" pitchFamily="34" charset="-120"/>
              </a:rPr>
              <a:t>Agents that understand why a metric behaves the way it does fix the right thing. Agents chasing a number tokenmax their way around it.</a:t>
            </a:r>
            <a:endParaRPr lang="en-US" sz="1500" dirty="0"/>
          </a:p>
        </p:txBody>
      </p:sp>
      <p:sp>
        <p:nvSpPr>
          <p:cNvPr id="7" name="Shape 5"/>
          <p:cNvSpPr/>
          <p:nvPr/>
        </p:nvSpPr>
        <p:spPr>
          <a:xfrm>
            <a:off x="548640" y="4800600"/>
            <a:ext cx="6126480" cy="1234440"/>
          </a:xfrm>
          <a:prstGeom prst="roundRect">
            <a:avLst>
              <a:gd name="adj" fmla="val 5185"/>
            </a:avLst>
          </a:prstGeom>
          <a:solidFill>
            <a:srgbClr val="0A0B16"/>
          </a:solidFill>
          <a:ln w="12700">
            <a:solidFill>
              <a:srgbClr val="FF7828"/>
            </a:solidFill>
            <a:prstDash val="solid"/>
          </a:ln>
        </p:spPr>
      </p:sp>
      <p:sp>
        <p:nvSpPr>
          <p:cNvPr id="8" name="Text 6"/>
          <p:cNvSpPr/>
          <p:nvPr/>
        </p:nvSpPr>
        <p:spPr>
          <a:xfrm>
            <a:off x="777240" y="4956048"/>
            <a:ext cx="5669280" cy="274320"/>
          </a:xfrm>
          <a:prstGeom prst="rect">
            <a:avLst/>
          </a:prstGeom>
          <a:noFill/>
          <a:ln/>
        </p:spPr>
        <p:txBody>
          <a:bodyPr wrap="square" lIns="0" tIns="0" rIns="0" bIns="0" rtlCol="0" anchor="ctr"/>
          <a:lstStyle/>
          <a:p>
            <a:pPr indent="0" marL="0">
              <a:buNone/>
            </a:pPr>
            <a:r>
              <a:rPr lang="en-US" sz="1050" b="1" spc="150" kern="0" dirty="0">
                <a:solidFill>
                  <a:srgbClr val="FF7828"/>
                </a:solidFill>
                <a:latin typeface="Arial" pitchFamily="34" charset="0"/>
                <a:ea typeface="Arial" pitchFamily="34" charset="-122"/>
                <a:cs typeface="Arial" pitchFamily="34" charset="-120"/>
              </a:rPr>
              <a:t>THE ANTI-PATTERN IT KILLS</a:t>
            </a:r>
            <a:endParaRPr lang="en-US" sz="1050" dirty="0"/>
          </a:p>
        </p:txBody>
      </p:sp>
      <p:sp>
        <p:nvSpPr>
          <p:cNvPr id="9" name="Text 7"/>
          <p:cNvSpPr/>
          <p:nvPr/>
        </p:nvSpPr>
        <p:spPr>
          <a:xfrm>
            <a:off x="777240" y="5230368"/>
            <a:ext cx="5669280" cy="713232"/>
          </a:xfrm>
          <a:prstGeom prst="rect">
            <a:avLst/>
          </a:prstGeom>
          <a:noFill/>
          <a:ln/>
        </p:spPr>
        <p:txBody>
          <a:bodyPr wrap="square" lIns="0" tIns="0" rIns="0" bIns="0" rtlCol="0" anchor="t"/>
          <a:lstStyle/>
          <a:p>
            <a:pPr indent="0" marL="0">
              <a:lnSpc>
                <a:spcPct val="105000"/>
              </a:lnSpc>
              <a:buNone/>
            </a:pPr>
            <a:r>
              <a:rPr lang="en-US" sz="1250" i="1" dirty="0">
                <a:solidFill>
                  <a:srgbClr val="FFFFFF"/>
                </a:solidFill>
                <a:latin typeface="Arial" pitchFamily="34" charset="0"/>
                <a:ea typeface="Arial" pitchFamily="34" charset="-122"/>
                <a:cs typeface="Arial" pitchFamily="34" charset="-120"/>
              </a:rPr>
              <a:t>Goodhart's law: once a metric becomes a target, it ceases to be a good metric. Don't measure tokens burned — measure whether the right thing got fixed.</a:t>
            </a:r>
            <a:endParaRPr lang="en-US" sz="1250" dirty="0"/>
          </a:p>
        </p:txBody>
      </p:sp>
      <p:sp>
        <p:nvSpPr>
          <p:cNvPr id="10" name="Shape 8"/>
          <p:cNvSpPr/>
          <p:nvPr/>
        </p:nvSpPr>
        <p:spPr>
          <a:xfrm>
            <a:off x="6903720" y="1965960"/>
            <a:ext cx="4736592" cy="4069080"/>
          </a:xfrm>
          <a:prstGeom prst="roundRect">
            <a:avLst>
              <a:gd name="adj" fmla="val 179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1" name="Shape 9"/>
          <p:cNvSpPr/>
          <p:nvPr/>
        </p:nvSpPr>
        <p:spPr>
          <a:xfrm>
            <a:off x="7223760" y="2258568"/>
            <a:ext cx="777240" cy="777240"/>
          </a:xfrm>
          <a:prstGeom prst="ellipse">
            <a:avLst/>
          </a:prstGeom>
          <a:solidFill>
            <a:srgbClr val="FF7828"/>
          </a:solidFill>
          <a:ln/>
        </p:spPr>
      </p:sp>
      <p:sp>
        <p:nvSpPr>
          <p:cNvPr id="12" name="Text 10"/>
          <p:cNvSpPr/>
          <p:nvPr/>
        </p:nvSpPr>
        <p:spPr>
          <a:xfrm>
            <a:off x="7223760" y="2258568"/>
            <a:ext cx="777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CK</a:t>
            </a:r>
            <a:endParaRPr lang="en-US" sz="2100" dirty="0"/>
          </a:p>
        </p:txBody>
      </p:sp>
      <p:sp>
        <p:nvSpPr>
          <p:cNvPr id="13" name="Text 11"/>
          <p:cNvSpPr/>
          <p:nvPr/>
        </p:nvSpPr>
        <p:spPr>
          <a:xfrm>
            <a:off x="8275320" y="2276856"/>
            <a:ext cx="3044952"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Cassie Kozyrkov</a:t>
            </a:r>
            <a:endParaRPr lang="en-US" sz="1600" dirty="0"/>
          </a:p>
        </p:txBody>
      </p:sp>
      <p:sp>
        <p:nvSpPr>
          <p:cNvPr id="14" name="Text 12"/>
          <p:cNvSpPr/>
          <p:nvPr/>
        </p:nvSpPr>
        <p:spPr>
          <a:xfrm>
            <a:off x="8275320" y="2679192"/>
            <a:ext cx="3044952" cy="457200"/>
          </a:xfrm>
          <a:prstGeom prst="rect">
            <a:avLst/>
          </a:prstGeom>
          <a:noFill/>
          <a:ln/>
        </p:spPr>
        <p:txBody>
          <a:bodyPr wrap="square" lIns="0" tIns="0" rIns="0" bIns="0" rtlCol="0" anchor="t"/>
          <a:lstStyle/>
          <a:p>
            <a:pPr algn="l" indent="0" marL="0">
              <a:lnSpc>
                <a:spcPct val="100000"/>
              </a:lnSpc>
              <a:buNone/>
            </a:pPr>
            <a:r>
              <a:rPr lang="en-US" sz="1050" dirty="0">
                <a:solidFill>
                  <a:srgbClr val="B9B9C6"/>
                </a:solidFill>
                <a:latin typeface="Arial" pitchFamily="34" charset="0"/>
                <a:ea typeface="Arial" pitchFamily="34" charset="-122"/>
                <a:cs typeface="Arial" pitchFamily="34" charset="-120"/>
              </a:rPr>
              <a:t>ex-Google Chief Decision Scientist</a:t>
            </a:r>
            <a:endParaRPr lang="en-US" sz="1050" dirty="0"/>
          </a:p>
        </p:txBody>
      </p:sp>
      <p:sp>
        <p:nvSpPr>
          <p:cNvPr id="15" name="Text 13"/>
          <p:cNvSpPr/>
          <p:nvPr/>
        </p:nvSpPr>
        <p:spPr>
          <a:xfrm>
            <a:off x="7269480" y="3246120"/>
            <a:ext cx="4005072" cy="1371600"/>
          </a:xfrm>
          <a:prstGeom prst="rect">
            <a:avLst/>
          </a:prstGeom>
          <a:noFill/>
          <a:ln/>
        </p:spPr>
        <p:txBody>
          <a:bodyPr wrap="square" lIns="0" tIns="0" rIns="0" bIns="0" rtlCol="0" anchor="t"/>
          <a:lstStyle/>
          <a:p>
            <a:pPr algn="l" indent="0" marL="0">
              <a:lnSpc>
                <a:spcPct val="106000"/>
              </a:lnSpc>
              <a:buNone/>
            </a:pPr>
            <a:r>
              <a:rPr lang="en-US" sz="1300" b="1" dirty="0">
                <a:solidFill>
                  <a:srgbClr val="FF7828"/>
                </a:solidFill>
                <a:latin typeface="Arial" pitchFamily="34" charset="0"/>
                <a:ea typeface="Arial" pitchFamily="34" charset="-122"/>
                <a:cs typeface="Arial" pitchFamily="34" charset="-120"/>
              </a:rPr>
              <a:t>“</a:t>
            </a:r>
            <a:pPr algn="l" indent="0" marL="0">
              <a:lnSpc>
                <a:spcPct val="106000"/>
              </a:lnSpc>
              <a:buNone/>
            </a:pPr>
            <a:r>
              <a:rPr lang="en-US" sz="1300" i="1" dirty="0">
                <a:solidFill>
                  <a:srgbClr val="FFFFFF"/>
                </a:solidFill>
                <a:latin typeface="Arial" pitchFamily="34" charset="0"/>
                <a:ea typeface="Arial" pitchFamily="34" charset="-122"/>
                <a:cs typeface="Arial" pitchFamily="34" charset="-120"/>
              </a:rPr>
              <a:t>Don't wish for more genies. Wish for the lamp — the control layer around the model is the point.</a:t>
            </a:r>
            <a:pPr algn="l" indent="0" marL="0">
              <a:lnSpc>
                <a:spcPct val="106000"/>
              </a:lnSpc>
              <a:buNone/>
            </a:pPr>
            <a:r>
              <a:rPr lang="en-US" sz="1300" b="1" dirty="0">
                <a:solidFill>
                  <a:srgbClr val="FF7828"/>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7269480" y="5468112"/>
            <a:ext cx="4005072" cy="457200"/>
          </a:xfrm>
          <a:prstGeom prst="rect">
            <a:avLst/>
          </a:prstGeom>
          <a:noFill/>
          <a:ln/>
        </p:spPr>
        <p:txBody>
          <a:bodyPr wrap="square" lIns="0" tIns="0" rIns="0" bIns="0" rtlCol="0" anchor="t"/>
          <a:lstStyle/>
          <a:p>
            <a:pPr algn="l" indent="0" marL="0">
              <a:lnSpc>
                <a:spcPct val="100000"/>
              </a:lnSpc>
              <a:buNone/>
            </a:pPr>
            <a:r>
              <a:rPr lang="en-US" sz="950" dirty="0">
                <a:solidFill>
                  <a:srgbClr val="FF7828"/>
                </a:solidFill>
                <a:latin typeface="Arial" pitchFamily="34" charset="0"/>
                <a:ea typeface="Arial" pitchFamily="34" charset="-122"/>
                <a:cs typeface="Arial" pitchFamily="34" charset="-120"/>
              </a:rPr>
              <a:t>▶  </a:t>
            </a:r>
            <a:pPr algn="l" indent="0" marL="0">
              <a:lnSpc>
                <a:spcPct val="100000"/>
              </a:lnSpc>
              <a:buNone/>
            </a:pPr>
            <a:r>
              <a:rPr lang="en-US" sz="950" u="sng" dirty="0">
                <a:solidFill>
                  <a:srgbClr val="3D89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How to Customize Agentic AI (LinkedIn Live)</a:t>
            </a:r>
            <a:endParaRPr lang="en-US" sz="950" dirty="0"/>
          </a:p>
        </p:txBody>
      </p:sp>
      <p:sp>
        <p:nvSpPr>
          <p:cNvPr id="17" name="Text 15"/>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8" name="Text 16"/>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Principle 3 · NC-4</a:t>
            </a:r>
            <a:endParaRPr lang="en-US" sz="950" dirty="0"/>
          </a:p>
        </p:txBody>
      </p:sp>
      <p:sp>
        <p:nvSpPr>
          <p:cNvPr id="19" name="Text 17"/>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B16"/>
        </a:solidFill>
      </p:bgPr>
    </p:bg>
    <p:spTree>
      <p:nvGrpSpPr>
        <p:cNvPr id="1" name=""/>
        <p:cNvGrpSpPr/>
        <p:nvPr/>
      </p:nvGrpSpPr>
      <p:grpSpPr>
        <a:xfrm>
          <a:off x="0" y="0"/>
          <a:ext cx="0" cy="0"/>
          <a:chOff x="0" y="0"/>
          <a:chExt cx="0" cy="0"/>
        </a:xfrm>
      </p:grpSpPr>
      <p:sp>
        <p:nvSpPr>
          <p:cNvPr id="2" name="Shape 0"/>
          <p:cNvSpPr/>
          <p:nvPr/>
        </p:nvSpPr>
        <p:spPr>
          <a:xfrm>
            <a:off x="548640" y="457200"/>
            <a:ext cx="868680" cy="868680"/>
          </a:xfrm>
          <a:prstGeom prst="roundRect">
            <a:avLst>
              <a:gd name="adj" fmla="val 10526"/>
            </a:avLst>
          </a:prstGeom>
          <a:solidFill>
            <a:srgbClr val="0064FF"/>
          </a:solidFill>
          <a:ln/>
        </p:spPr>
      </p:sp>
      <p:sp>
        <p:nvSpPr>
          <p:cNvPr id="3" name="Text 1"/>
          <p:cNvSpPr/>
          <p:nvPr/>
        </p:nvSpPr>
        <p:spPr>
          <a:xfrm>
            <a:off x="548640" y="45720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8</a:t>
            </a:r>
            <a:endParaRPr lang="en-US" sz="3400" dirty="0"/>
          </a:p>
        </p:txBody>
      </p:sp>
      <p:sp>
        <p:nvSpPr>
          <p:cNvPr id="4" name="Text 2"/>
          <p:cNvSpPr/>
          <p:nvPr/>
        </p:nvSpPr>
        <p:spPr>
          <a:xfrm>
            <a:off x="1600200" y="475488"/>
            <a:ext cx="5486400" cy="274320"/>
          </a:xfrm>
          <a:prstGeom prst="rect">
            <a:avLst/>
          </a:prstGeom>
          <a:noFill/>
          <a:ln/>
        </p:spPr>
        <p:txBody>
          <a:bodyPr wrap="square" lIns="0" tIns="0" rIns="0" bIns="0" rtlCol="0" anchor="ctr"/>
          <a:lstStyle/>
          <a:p>
            <a:pPr indent="0" marL="0">
              <a:buNone/>
            </a:pPr>
            <a:r>
              <a:rPr lang="en-US" sz="1100" b="1" spc="200" kern="0" dirty="0">
                <a:solidFill>
                  <a:srgbClr val="0064FF"/>
                </a:solidFill>
                <a:latin typeface="Arial" pitchFamily="34" charset="0"/>
                <a:ea typeface="Arial" pitchFamily="34" charset="-122"/>
                <a:cs typeface="Arial" pitchFamily="34" charset="-120"/>
              </a:rPr>
              <a:t>PRINCIPLE</a:t>
            </a:r>
            <a:endParaRPr lang="en-US" sz="1100" dirty="0"/>
          </a:p>
        </p:txBody>
      </p:sp>
      <p:sp>
        <p:nvSpPr>
          <p:cNvPr id="5" name="Text 3"/>
          <p:cNvSpPr/>
          <p:nvPr/>
        </p:nvSpPr>
        <p:spPr>
          <a:xfrm>
            <a:off x="1600200" y="749808"/>
            <a:ext cx="9966960" cy="868680"/>
          </a:xfrm>
          <a:prstGeom prst="rect">
            <a:avLst/>
          </a:prstGeom>
          <a:noFill/>
          <a:ln/>
        </p:spPr>
        <p:txBody>
          <a:bodyPr wrap="square" lIns="0" tIns="0" rIns="0" bIns="0" rtlCol="0" anchor="t"/>
          <a:lstStyle/>
          <a:p>
            <a:pPr indent="0" marL="0">
              <a:lnSpc>
                <a:spcPct val="98000"/>
              </a:lnSpc>
              <a:buNone/>
            </a:pPr>
            <a:r>
              <a:rPr lang="en-US" sz="2500" b="1" dirty="0">
                <a:solidFill>
                  <a:srgbClr val="FFFFFF"/>
                </a:solidFill>
                <a:latin typeface="Arial" pitchFamily="34" charset="0"/>
                <a:ea typeface="Arial" pitchFamily="34" charset="-122"/>
                <a:cs typeface="Arial" pitchFamily="34" charset="-120"/>
              </a:rPr>
              <a:t>Give a map of the option space, honestly annotated</a:t>
            </a:r>
            <a:endParaRPr lang="en-US" sz="2500" dirty="0"/>
          </a:p>
        </p:txBody>
      </p:sp>
      <p:sp>
        <p:nvSpPr>
          <p:cNvPr id="6" name="Text 4"/>
          <p:cNvSpPr/>
          <p:nvPr/>
        </p:nvSpPr>
        <p:spPr>
          <a:xfrm>
            <a:off x="548640" y="1965960"/>
            <a:ext cx="10881360" cy="2743200"/>
          </a:xfrm>
          <a:prstGeom prst="rect">
            <a:avLst/>
          </a:prstGeom>
          <a:noFill/>
          <a:ln/>
        </p:spPr>
        <p:txBody>
          <a:bodyPr wrap="square" lIns="0" tIns="0" rIns="0" bIns="0" rtlCol="0" anchor="t"/>
          <a:lstStyle/>
          <a:p>
            <a:pPr indent="0" marL="0">
              <a:lnSpc>
                <a:spcPct val="118000"/>
              </a:lnSpc>
              <a:spcAft>
                <a:spcPts val="800"/>
              </a:spcAft>
              <a:buNone/>
            </a:pPr>
            <a:r>
              <a:rPr lang="en-US" sz="1500" dirty="0">
                <a:solidFill>
                  <a:srgbClr val="B9B9C6"/>
                </a:solidFill>
                <a:latin typeface="Arial" pitchFamily="34" charset="0"/>
                <a:ea typeface="Arial" pitchFamily="34" charset="-122"/>
                <a:cs typeface="Arial" pitchFamily="34" charset="-120"/>
              </a:rPr>
              <a:t>The approach-menu tags every approach [explored] / [lightly tried] / [unexplored], and is explicit that “unexplored” says nothing about whether it works — only that the data doesn't tell us yet.</a:t>
            </a:r>
            <a:endParaRPr lang="en-US" sz="1500" dirty="0"/>
          </a:p>
          <a:p>
            <a:pPr indent="0" marL="0">
              <a:lnSpc>
                <a:spcPct val="118000"/>
              </a:lnSpc>
              <a:spcAft>
                <a:spcPts val="800"/>
              </a:spcAft>
              <a:buNone/>
            </a:pPr>
            <a:endParaRPr lang="en-US" sz="1500" dirty="0"/>
          </a:p>
          <a:p>
            <a:pPr indent="0" marL="0">
              <a:lnSpc>
                <a:spcPct val="118000"/>
              </a:lnSpc>
              <a:spcAft>
                <a:spcPts val="800"/>
              </a:spcAft>
              <a:buNone/>
            </a:pPr>
            <a:r>
              <a:rPr lang="en-US" sz="1500" b="1" dirty="0">
                <a:solidFill>
                  <a:srgbClr val="FFFFFF"/>
                </a:solidFill>
                <a:latin typeface="Arial" pitchFamily="34" charset="0"/>
                <a:ea typeface="Arial" pitchFamily="34" charset="-122"/>
                <a:cs typeface="Arial" pitchFamily="34" charset="-120"/>
              </a:rPr>
              <a:t>It separates refining on your current rung from climbing to a more expressive model structure — and prices each. That stops the agent mistaking a local optimum for the global one.</a:t>
            </a:r>
            <a:endParaRPr lang="en-US" sz="1500" dirty="0"/>
          </a:p>
        </p:txBody>
      </p:sp>
      <p:sp>
        <p:nvSpPr>
          <p:cNvPr id="7" name="Shape 5"/>
          <p:cNvSpPr/>
          <p:nvPr/>
        </p:nvSpPr>
        <p:spPr>
          <a:xfrm>
            <a:off x="548640" y="4800600"/>
            <a:ext cx="10881360" cy="1234440"/>
          </a:xfrm>
          <a:prstGeom prst="roundRect">
            <a:avLst>
              <a:gd name="adj" fmla="val 5185"/>
            </a:avLst>
          </a:prstGeom>
          <a:solidFill>
            <a:srgbClr val="0A0B24"/>
          </a:solidFill>
          <a:ln w="12700">
            <a:solidFill>
              <a:srgbClr val="0064FF"/>
            </a:solidFill>
            <a:prstDash val="solid"/>
          </a:ln>
        </p:spPr>
      </p:sp>
      <p:sp>
        <p:nvSpPr>
          <p:cNvPr id="8" name="Text 6"/>
          <p:cNvSpPr/>
          <p:nvPr/>
        </p:nvSpPr>
        <p:spPr>
          <a:xfrm>
            <a:off x="777240" y="4956048"/>
            <a:ext cx="10424160" cy="274320"/>
          </a:xfrm>
          <a:prstGeom prst="rect">
            <a:avLst/>
          </a:prstGeom>
          <a:noFill/>
          <a:ln/>
        </p:spPr>
        <p:txBody>
          <a:bodyPr wrap="square" lIns="0" tIns="0" rIns="0" bIns="0" rtlCol="0" anchor="ctr"/>
          <a:lstStyle/>
          <a:p>
            <a:pPr indent="0" marL="0">
              <a:buNone/>
            </a:pPr>
            <a:r>
              <a:rPr lang="en-US" sz="1050" b="1" spc="150" kern="0" dirty="0">
                <a:solidFill>
                  <a:srgbClr val="0064FF"/>
                </a:solidFill>
                <a:latin typeface="Arial" pitchFamily="34" charset="0"/>
                <a:ea typeface="Arial" pitchFamily="34" charset="-122"/>
                <a:cs typeface="Arial" pitchFamily="34" charset="-120"/>
              </a:rPr>
              <a:t>THE SIX MODULE-3 REFERENCE DOCS</a:t>
            </a:r>
            <a:endParaRPr lang="en-US" sz="1050" dirty="0"/>
          </a:p>
        </p:txBody>
      </p:sp>
      <p:sp>
        <p:nvSpPr>
          <p:cNvPr id="9" name="Text 7"/>
          <p:cNvSpPr/>
          <p:nvPr/>
        </p:nvSpPr>
        <p:spPr>
          <a:xfrm>
            <a:off x="777240" y="5230368"/>
            <a:ext cx="10424160" cy="713232"/>
          </a:xfrm>
          <a:prstGeom prst="rect">
            <a:avLst/>
          </a:prstGeom>
          <a:noFill/>
          <a:ln/>
        </p:spPr>
        <p:txBody>
          <a:bodyPr wrap="square" lIns="0" tIns="0" rIns="0" bIns="0" rtlCol="0" anchor="t"/>
          <a:lstStyle/>
          <a:p>
            <a:pPr indent="0" marL="0">
              <a:lnSpc>
                <a:spcPct val="105000"/>
              </a:lnSpc>
              <a:buNone/>
            </a:pPr>
            <a:r>
              <a:rPr lang="en-US" sz="1250" i="1" dirty="0">
                <a:solidFill>
                  <a:srgbClr val="FFFFFF"/>
                </a:solidFill>
                <a:latin typeface="Arial" pitchFamily="34" charset="0"/>
                <a:ea typeface="Arial" pitchFamily="34" charset="-122"/>
                <a:cs typeface="Arial" pitchFamily="34" charset="-120"/>
              </a:rPr>
              <a:t>anti-patterns · approach-menu · ceiling-moves · dynamics-formulations · exploration-discipline · two-kpi-tradeoff</a:t>
            </a:r>
            <a:endParaRPr lang="en-US" sz="1250" dirty="0"/>
          </a:p>
        </p:txBody>
      </p:sp>
      <p:sp>
        <p:nvSpPr>
          <p:cNvPr id="10" name="Text 8"/>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1" name="Text 9"/>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Principle 4</a:t>
            </a:r>
            <a:endParaRPr lang="en-US" sz="950" dirty="0"/>
          </a:p>
        </p:txBody>
      </p:sp>
      <p:sp>
        <p:nvSpPr>
          <p:cNvPr id="12" name="Text 10"/>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B24"/>
        </a:solidFill>
      </p:bgPr>
    </p:bg>
    <p:spTree>
      <p:nvGrpSpPr>
        <p:cNvPr id="1" name=""/>
        <p:cNvGrpSpPr/>
        <p:nvPr/>
      </p:nvGrpSpPr>
      <p:grpSpPr>
        <a:xfrm>
          <a:off x="0" y="0"/>
          <a:ext cx="0" cy="0"/>
          <a:chOff x="0" y="0"/>
          <a:chExt cx="0" cy="0"/>
        </a:xfrm>
      </p:grpSpPr>
      <p:sp>
        <p:nvSpPr>
          <p:cNvPr id="2" name="Shape 0"/>
          <p:cNvSpPr/>
          <p:nvPr/>
        </p:nvSpPr>
        <p:spPr>
          <a:xfrm>
            <a:off x="548640" y="457200"/>
            <a:ext cx="868680" cy="868680"/>
          </a:xfrm>
          <a:prstGeom prst="roundRect">
            <a:avLst>
              <a:gd name="adj" fmla="val 10526"/>
            </a:avLst>
          </a:prstGeom>
          <a:solidFill>
            <a:srgbClr val="BD2EFF"/>
          </a:solidFill>
          <a:ln/>
        </p:spPr>
      </p:sp>
      <p:sp>
        <p:nvSpPr>
          <p:cNvPr id="3" name="Text 1"/>
          <p:cNvSpPr/>
          <p:nvPr/>
        </p:nvSpPr>
        <p:spPr>
          <a:xfrm>
            <a:off x="548640" y="45720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9</a:t>
            </a:r>
            <a:endParaRPr lang="en-US" sz="3400" dirty="0"/>
          </a:p>
        </p:txBody>
      </p:sp>
      <p:sp>
        <p:nvSpPr>
          <p:cNvPr id="4" name="Text 2"/>
          <p:cNvSpPr/>
          <p:nvPr/>
        </p:nvSpPr>
        <p:spPr>
          <a:xfrm>
            <a:off x="1600200" y="475488"/>
            <a:ext cx="5486400" cy="274320"/>
          </a:xfrm>
          <a:prstGeom prst="rect">
            <a:avLst/>
          </a:prstGeom>
          <a:noFill/>
          <a:ln/>
        </p:spPr>
        <p:txBody>
          <a:bodyPr wrap="square" lIns="0" tIns="0" rIns="0" bIns="0" rtlCol="0" anchor="ctr"/>
          <a:lstStyle/>
          <a:p>
            <a:pPr indent="0" marL="0">
              <a:buNone/>
            </a:pPr>
            <a:r>
              <a:rPr lang="en-US" sz="1100" b="1" spc="200" kern="0" dirty="0">
                <a:solidFill>
                  <a:srgbClr val="BD2EFF"/>
                </a:solidFill>
                <a:latin typeface="Arial" pitchFamily="34" charset="0"/>
                <a:ea typeface="Arial" pitchFamily="34" charset="-122"/>
                <a:cs typeface="Arial" pitchFamily="34" charset="-120"/>
              </a:rPr>
              <a:t>PRINCIPLE</a:t>
            </a:r>
            <a:endParaRPr lang="en-US" sz="1100" dirty="0"/>
          </a:p>
        </p:txBody>
      </p:sp>
      <p:sp>
        <p:nvSpPr>
          <p:cNvPr id="5" name="Text 3"/>
          <p:cNvSpPr/>
          <p:nvPr/>
        </p:nvSpPr>
        <p:spPr>
          <a:xfrm>
            <a:off x="1600200" y="749808"/>
            <a:ext cx="9966960" cy="868680"/>
          </a:xfrm>
          <a:prstGeom prst="rect">
            <a:avLst/>
          </a:prstGeom>
          <a:noFill/>
          <a:ln/>
        </p:spPr>
        <p:txBody>
          <a:bodyPr wrap="square" lIns="0" tIns="0" rIns="0" bIns="0" rtlCol="0" anchor="t"/>
          <a:lstStyle/>
          <a:p>
            <a:pPr indent="0" marL="0">
              <a:lnSpc>
                <a:spcPct val="98000"/>
              </a:lnSpc>
              <a:buNone/>
            </a:pPr>
            <a:r>
              <a:rPr lang="en-US" sz="2500" b="1" dirty="0">
                <a:solidFill>
                  <a:srgbClr val="FFFFFF"/>
                </a:solidFill>
                <a:latin typeface="Arial" pitchFamily="34" charset="0"/>
                <a:ea typeface="Arial" pitchFamily="34" charset="-122"/>
                <a:cs typeface="Arial" pitchFamily="34" charset="-120"/>
              </a:rPr>
              <a:t>Engineer-in exploration discipline against premature convergence</a:t>
            </a:r>
            <a:endParaRPr lang="en-US" sz="2500" dirty="0"/>
          </a:p>
        </p:txBody>
      </p:sp>
      <p:sp>
        <p:nvSpPr>
          <p:cNvPr id="6" name="Text 4"/>
          <p:cNvSpPr/>
          <p:nvPr/>
        </p:nvSpPr>
        <p:spPr>
          <a:xfrm>
            <a:off x="548640" y="1965960"/>
            <a:ext cx="6126480" cy="2743200"/>
          </a:xfrm>
          <a:prstGeom prst="rect">
            <a:avLst/>
          </a:prstGeom>
          <a:noFill/>
          <a:ln/>
        </p:spPr>
        <p:txBody>
          <a:bodyPr wrap="square" lIns="0" tIns="0" rIns="0" bIns="0" rtlCol="0" anchor="t"/>
          <a:lstStyle/>
          <a:p>
            <a:pPr indent="0" marL="0">
              <a:lnSpc>
                <a:spcPct val="118000"/>
              </a:lnSpc>
              <a:spcAft>
                <a:spcPts val="800"/>
              </a:spcAft>
              <a:buNone/>
            </a:pPr>
            <a:r>
              <a:rPr lang="en-US" sz="1500" dirty="0">
                <a:solidFill>
                  <a:srgbClr val="B9B9C6"/>
                </a:solidFill>
                <a:latin typeface="Arial" pitchFamily="34" charset="0"/>
                <a:ea typeface="Arial" pitchFamily="34" charset="-122"/>
                <a:cs typeface="Arial" pitchFamily="34" charset="-120"/>
              </a:rPr>
              <a:t>Prior cohorts all converged on the same safe local optimum. So the exploration-discipline doc requires naming five genuinely different approaches (≥3 model structures) and logging one structural-climb attempt — mechanically enforced by a pre-flight check.</a:t>
            </a:r>
            <a:endParaRPr lang="en-US" sz="1500" dirty="0"/>
          </a:p>
          <a:p>
            <a:pPr indent="0" marL="0">
              <a:lnSpc>
                <a:spcPct val="118000"/>
              </a:lnSpc>
              <a:spcAft>
                <a:spcPts val="800"/>
              </a:spcAft>
              <a:buNone/>
            </a:pPr>
            <a:endParaRPr lang="en-US" sz="1500" dirty="0"/>
          </a:p>
          <a:p>
            <a:pPr indent="0" marL="0">
              <a:lnSpc>
                <a:spcPct val="118000"/>
              </a:lnSpc>
              <a:spcAft>
                <a:spcPts val="800"/>
              </a:spcAft>
              <a:buNone/>
            </a:pPr>
            <a:r>
              <a:rPr lang="en-US" sz="1500" b="1" dirty="0">
                <a:solidFill>
                  <a:srgbClr val="FFFFFF"/>
                </a:solidFill>
                <a:latin typeface="Arial" pitchFamily="34" charset="0"/>
                <a:ea typeface="Arial" pitchFamily="34" charset="-122"/>
                <a:cs typeface="Arial" pitchFamily="34" charset="-120"/>
              </a:rPr>
              <a:t>This is the ratchet method applied to a whole cohort: engineer out the systematic failure (groupthink) structurally, not by re-prompting.</a:t>
            </a:r>
            <a:endParaRPr lang="en-US" sz="1500" dirty="0"/>
          </a:p>
        </p:txBody>
      </p:sp>
      <p:sp>
        <p:nvSpPr>
          <p:cNvPr id="7" name="Shape 5"/>
          <p:cNvSpPr/>
          <p:nvPr/>
        </p:nvSpPr>
        <p:spPr>
          <a:xfrm>
            <a:off x="548640" y="4800600"/>
            <a:ext cx="6126480" cy="1234440"/>
          </a:xfrm>
          <a:prstGeom prst="roundRect">
            <a:avLst>
              <a:gd name="adj" fmla="val 5185"/>
            </a:avLst>
          </a:prstGeom>
          <a:solidFill>
            <a:srgbClr val="0A0B16"/>
          </a:solidFill>
          <a:ln w="12700">
            <a:solidFill>
              <a:srgbClr val="BD2EFF"/>
            </a:solidFill>
            <a:prstDash val="solid"/>
          </a:ln>
        </p:spPr>
      </p:sp>
      <p:sp>
        <p:nvSpPr>
          <p:cNvPr id="8" name="Text 6"/>
          <p:cNvSpPr/>
          <p:nvPr/>
        </p:nvSpPr>
        <p:spPr>
          <a:xfrm>
            <a:off x="777240" y="4956048"/>
            <a:ext cx="5669280" cy="274320"/>
          </a:xfrm>
          <a:prstGeom prst="rect">
            <a:avLst/>
          </a:prstGeom>
          <a:noFill/>
          <a:ln/>
        </p:spPr>
        <p:txBody>
          <a:bodyPr wrap="square" lIns="0" tIns="0" rIns="0" bIns="0" rtlCol="0" anchor="ctr"/>
          <a:lstStyle/>
          <a:p>
            <a:pPr indent="0" marL="0">
              <a:buNone/>
            </a:pPr>
            <a:r>
              <a:rPr lang="en-US" sz="1050" b="1" spc="150" kern="0" dirty="0">
                <a:solidFill>
                  <a:srgbClr val="BD2EFF"/>
                </a:solidFill>
                <a:latin typeface="Arial" pitchFamily="34" charset="0"/>
                <a:ea typeface="Arial" pitchFamily="34" charset="-122"/>
                <a:cs typeface="Arial" pitchFamily="34" charset="-120"/>
              </a:rPr>
              <a:t>THE CULTURAL SHIFT</a:t>
            </a:r>
            <a:endParaRPr lang="en-US" sz="1050" dirty="0"/>
          </a:p>
        </p:txBody>
      </p:sp>
      <p:sp>
        <p:nvSpPr>
          <p:cNvPr id="9" name="Text 7"/>
          <p:cNvSpPr/>
          <p:nvPr/>
        </p:nvSpPr>
        <p:spPr>
          <a:xfrm>
            <a:off x="777240" y="5230368"/>
            <a:ext cx="5669280" cy="713232"/>
          </a:xfrm>
          <a:prstGeom prst="rect">
            <a:avLst/>
          </a:prstGeom>
          <a:noFill/>
          <a:ln/>
        </p:spPr>
        <p:txBody>
          <a:bodyPr wrap="square" lIns="0" tIns="0" rIns="0" bIns="0" rtlCol="0" anchor="t"/>
          <a:lstStyle/>
          <a:p>
            <a:pPr indent="0" marL="0">
              <a:lnSpc>
                <a:spcPct val="105000"/>
              </a:lnSpc>
              <a:buNone/>
            </a:pPr>
            <a:r>
              <a:rPr lang="en-US" sz="1250" i="1" dirty="0">
                <a:solidFill>
                  <a:srgbClr val="FFFFFF"/>
                </a:solidFill>
                <a:latin typeface="Arial" pitchFamily="34" charset="0"/>
                <a:ea typeface="Arial" pitchFamily="34" charset="-122"/>
                <a:cs typeface="Arial" pitchFamily="34" charset="-120"/>
              </a:rPr>
              <a:t>From “the agent failed me” to “I haven't finished engineering the harness yet.” Failures become inputs to the next iteration.</a:t>
            </a:r>
            <a:endParaRPr lang="en-US" sz="1250" dirty="0"/>
          </a:p>
        </p:txBody>
      </p:sp>
      <p:sp>
        <p:nvSpPr>
          <p:cNvPr id="10" name="Shape 8"/>
          <p:cNvSpPr/>
          <p:nvPr/>
        </p:nvSpPr>
        <p:spPr>
          <a:xfrm>
            <a:off x="6903720" y="1965960"/>
            <a:ext cx="4736592" cy="4069080"/>
          </a:xfrm>
          <a:prstGeom prst="roundRect">
            <a:avLst>
              <a:gd name="adj" fmla="val 179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1" name="Shape 9"/>
          <p:cNvSpPr/>
          <p:nvPr/>
        </p:nvSpPr>
        <p:spPr>
          <a:xfrm>
            <a:off x="7223760" y="2258568"/>
            <a:ext cx="777240" cy="777240"/>
          </a:xfrm>
          <a:prstGeom prst="ellipse">
            <a:avLst/>
          </a:prstGeom>
          <a:solidFill>
            <a:srgbClr val="BD2EFF"/>
          </a:solidFill>
          <a:ln/>
        </p:spPr>
      </p:sp>
      <p:sp>
        <p:nvSpPr>
          <p:cNvPr id="12" name="Text 10"/>
          <p:cNvSpPr/>
          <p:nvPr/>
        </p:nvSpPr>
        <p:spPr>
          <a:xfrm>
            <a:off x="7223760" y="2258568"/>
            <a:ext cx="777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MH</a:t>
            </a:r>
            <a:endParaRPr lang="en-US" sz="2100" dirty="0"/>
          </a:p>
        </p:txBody>
      </p:sp>
      <p:sp>
        <p:nvSpPr>
          <p:cNvPr id="13" name="Text 11"/>
          <p:cNvSpPr/>
          <p:nvPr/>
        </p:nvSpPr>
        <p:spPr>
          <a:xfrm>
            <a:off x="8275320" y="2276856"/>
            <a:ext cx="3044952"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Mitchell Hashimoto</a:t>
            </a:r>
            <a:endParaRPr lang="en-US" sz="1600" dirty="0"/>
          </a:p>
        </p:txBody>
      </p:sp>
      <p:sp>
        <p:nvSpPr>
          <p:cNvPr id="14" name="Text 12"/>
          <p:cNvSpPr/>
          <p:nvPr/>
        </p:nvSpPr>
        <p:spPr>
          <a:xfrm>
            <a:off x="8275320" y="2679192"/>
            <a:ext cx="3044952" cy="457200"/>
          </a:xfrm>
          <a:prstGeom prst="rect">
            <a:avLst/>
          </a:prstGeom>
          <a:noFill/>
          <a:ln/>
        </p:spPr>
        <p:txBody>
          <a:bodyPr wrap="square" lIns="0" tIns="0" rIns="0" bIns="0" rtlCol="0" anchor="t"/>
          <a:lstStyle/>
          <a:p>
            <a:pPr algn="l" indent="0" marL="0">
              <a:lnSpc>
                <a:spcPct val="100000"/>
              </a:lnSpc>
              <a:buNone/>
            </a:pPr>
            <a:r>
              <a:rPr lang="en-US" sz="1050" dirty="0">
                <a:solidFill>
                  <a:srgbClr val="B9B9C6"/>
                </a:solidFill>
                <a:latin typeface="Arial" pitchFamily="34" charset="0"/>
                <a:ea typeface="Arial" pitchFamily="34" charset="-122"/>
                <a:cs typeface="Arial" pitchFamily="34" charset="-120"/>
              </a:rPr>
              <a:t>Creator of HashiCorp &amp; Ghostty · “My AI Adoption Journey”</a:t>
            </a:r>
            <a:endParaRPr lang="en-US" sz="1050" dirty="0"/>
          </a:p>
        </p:txBody>
      </p:sp>
      <p:sp>
        <p:nvSpPr>
          <p:cNvPr id="15" name="Text 13"/>
          <p:cNvSpPr/>
          <p:nvPr/>
        </p:nvSpPr>
        <p:spPr>
          <a:xfrm>
            <a:off x="7269480" y="3246120"/>
            <a:ext cx="4005072" cy="1463040"/>
          </a:xfrm>
          <a:prstGeom prst="rect">
            <a:avLst/>
          </a:prstGeom>
          <a:noFill/>
          <a:ln/>
        </p:spPr>
        <p:txBody>
          <a:bodyPr wrap="square" lIns="0" tIns="0" rIns="0" bIns="0" rtlCol="0" anchor="t"/>
          <a:lstStyle/>
          <a:p>
            <a:pPr algn="l" indent="0" marL="0">
              <a:lnSpc>
                <a:spcPct val="106000"/>
              </a:lnSpc>
              <a:buNone/>
            </a:pPr>
            <a:r>
              <a:rPr lang="en-US" sz="1300" b="1" dirty="0">
                <a:solidFill>
                  <a:srgbClr val="BD2EFF"/>
                </a:solidFill>
                <a:latin typeface="Arial" pitchFamily="34" charset="0"/>
                <a:ea typeface="Arial" pitchFamily="34" charset="-122"/>
                <a:cs typeface="Arial" pitchFamily="34" charset="-120"/>
              </a:rPr>
              <a:t>“</a:t>
            </a:r>
            <a:pPr algn="l" indent="0" marL="0">
              <a:lnSpc>
                <a:spcPct val="106000"/>
              </a:lnSpc>
              <a:buNone/>
            </a:pPr>
            <a:r>
              <a:rPr lang="en-US" sz="1300" i="1" dirty="0">
                <a:solidFill>
                  <a:srgbClr val="FFFFFF"/>
                </a:solidFill>
                <a:latin typeface="Arial" pitchFamily="34" charset="0"/>
                <a:ea typeface="Arial" pitchFamily="34" charset="-122"/>
                <a:cs typeface="Arial" pitchFamily="34" charset="-120"/>
              </a:rPr>
              <a:t>Anytime an agent makes a mistake, engineer a solution so it never makes that mistake again.</a:t>
            </a:r>
            <a:pPr algn="l" indent="0" marL="0">
              <a:lnSpc>
                <a:spcPct val="106000"/>
              </a:lnSpc>
              <a:buNone/>
            </a:pPr>
            <a:r>
              <a:rPr lang="en-US" sz="1300" b="1" dirty="0">
                <a:solidFill>
                  <a:srgbClr val="BD2EFF"/>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7269480" y="5468112"/>
            <a:ext cx="4005072" cy="457200"/>
          </a:xfrm>
          <a:prstGeom prst="rect">
            <a:avLst/>
          </a:prstGeom>
          <a:noFill/>
          <a:ln/>
        </p:spPr>
        <p:txBody>
          <a:bodyPr wrap="square" lIns="0" tIns="0" rIns="0" bIns="0" rtlCol="0" anchor="t"/>
          <a:lstStyle/>
          <a:p>
            <a:pPr algn="l" indent="0" marL="0">
              <a:lnSpc>
                <a:spcPct val="100000"/>
              </a:lnSpc>
              <a:buNone/>
            </a:pPr>
            <a:r>
              <a:rPr lang="en-US" sz="950" dirty="0">
                <a:solidFill>
                  <a:srgbClr val="BD2EFF"/>
                </a:solidFill>
                <a:latin typeface="Arial" pitchFamily="34" charset="0"/>
                <a:ea typeface="Arial" pitchFamily="34" charset="-122"/>
                <a:cs typeface="Arial" pitchFamily="34" charset="-120"/>
              </a:rPr>
              <a:t>▶  </a:t>
            </a:r>
            <a:pPr algn="l" indent="0" marL="0">
              <a:lnSpc>
                <a:spcPct val="100000"/>
              </a:lnSpc>
              <a:buNone/>
            </a:pPr>
            <a:r>
              <a:rPr lang="en-US" sz="950" u="sng" dirty="0">
                <a:solidFill>
                  <a:srgbClr val="3D89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via BettaTech — Harness Engineering (YouTube)</a:t>
            </a:r>
            <a:endParaRPr lang="en-US" sz="950" dirty="0"/>
          </a:p>
        </p:txBody>
      </p:sp>
      <p:sp>
        <p:nvSpPr>
          <p:cNvPr id="17" name="Text 15"/>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8" name="Text 16"/>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Principle 5 · NC-14 / NC-3</a:t>
            </a:r>
            <a:endParaRPr lang="en-US" sz="950" dirty="0"/>
          </a:p>
        </p:txBody>
      </p:sp>
      <p:sp>
        <p:nvSpPr>
          <p:cNvPr id="19" name="Text 17"/>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B16"/>
        </a:solidFill>
      </p:bgPr>
    </p:bg>
    <p:spTree>
      <p:nvGrpSpPr>
        <p:cNvPr id="1" name=""/>
        <p:cNvGrpSpPr/>
        <p:nvPr/>
      </p:nvGrpSpPr>
      <p:grpSpPr>
        <a:xfrm>
          <a:off x="0" y="0"/>
          <a:ext cx="0" cy="0"/>
          <a:chOff x="0" y="0"/>
          <a:chExt cx="0" cy="0"/>
        </a:xfrm>
      </p:grpSpPr>
      <p:sp>
        <p:nvSpPr>
          <p:cNvPr id="2" name="Shape 0"/>
          <p:cNvSpPr/>
          <p:nvPr/>
        </p:nvSpPr>
        <p:spPr>
          <a:xfrm>
            <a:off x="548640" y="457200"/>
            <a:ext cx="868680" cy="868680"/>
          </a:xfrm>
          <a:prstGeom prst="roundRect">
            <a:avLst>
              <a:gd name="adj" fmla="val 10526"/>
            </a:avLst>
          </a:prstGeom>
          <a:solidFill>
            <a:srgbClr val="FF7828"/>
          </a:solidFill>
          <a:ln/>
        </p:spPr>
      </p:sp>
      <p:sp>
        <p:nvSpPr>
          <p:cNvPr id="3" name="Text 1"/>
          <p:cNvSpPr/>
          <p:nvPr/>
        </p:nvSpPr>
        <p:spPr>
          <a:xfrm>
            <a:off x="548640" y="457200"/>
            <a:ext cx="868680" cy="86868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10</a:t>
            </a:r>
            <a:endParaRPr lang="en-US" sz="3400" dirty="0"/>
          </a:p>
        </p:txBody>
      </p:sp>
      <p:sp>
        <p:nvSpPr>
          <p:cNvPr id="4" name="Text 2"/>
          <p:cNvSpPr/>
          <p:nvPr/>
        </p:nvSpPr>
        <p:spPr>
          <a:xfrm>
            <a:off x="1600200" y="475488"/>
            <a:ext cx="5486400" cy="274320"/>
          </a:xfrm>
          <a:prstGeom prst="rect">
            <a:avLst/>
          </a:prstGeom>
          <a:noFill/>
          <a:ln/>
        </p:spPr>
        <p:txBody>
          <a:bodyPr wrap="square" lIns="0" tIns="0" rIns="0" bIns="0" rtlCol="0" anchor="ctr"/>
          <a:lstStyle/>
          <a:p>
            <a:pPr indent="0" marL="0">
              <a:buNone/>
            </a:pPr>
            <a:r>
              <a:rPr lang="en-US" sz="1100" b="1" spc="200" kern="0" dirty="0">
                <a:solidFill>
                  <a:srgbClr val="FF7828"/>
                </a:solidFill>
                <a:latin typeface="Arial" pitchFamily="34" charset="0"/>
                <a:ea typeface="Arial" pitchFamily="34" charset="-122"/>
                <a:cs typeface="Arial" pitchFamily="34" charset="-120"/>
              </a:rPr>
              <a:t>PRINCIPLE</a:t>
            </a:r>
            <a:endParaRPr lang="en-US" sz="1100" dirty="0"/>
          </a:p>
        </p:txBody>
      </p:sp>
      <p:sp>
        <p:nvSpPr>
          <p:cNvPr id="5" name="Text 3"/>
          <p:cNvSpPr/>
          <p:nvPr/>
        </p:nvSpPr>
        <p:spPr>
          <a:xfrm>
            <a:off x="1600200" y="749808"/>
            <a:ext cx="9966960" cy="868680"/>
          </a:xfrm>
          <a:prstGeom prst="rect">
            <a:avLst/>
          </a:prstGeom>
          <a:noFill/>
          <a:ln/>
        </p:spPr>
        <p:txBody>
          <a:bodyPr wrap="square" lIns="0" tIns="0" rIns="0" bIns="0" rtlCol="0" anchor="t"/>
          <a:lstStyle/>
          <a:p>
            <a:pPr indent="0" marL="0">
              <a:lnSpc>
                <a:spcPct val="98000"/>
              </a:lnSpc>
              <a:buNone/>
            </a:pPr>
            <a:r>
              <a:rPr lang="en-US" sz="2500" b="1" dirty="0">
                <a:solidFill>
                  <a:srgbClr val="FFFFFF"/>
                </a:solidFill>
                <a:latin typeface="Arial" pitchFamily="34" charset="0"/>
                <a:ea typeface="Arial" pitchFamily="34" charset="-122"/>
                <a:cs typeface="Arial" pitchFamily="34" charset="-120"/>
              </a:rPr>
              <a:t>Domain docs are append-only — they grow and compound</a:t>
            </a:r>
            <a:endParaRPr lang="en-US" sz="2500" dirty="0"/>
          </a:p>
        </p:txBody>
      </p:sp>
      <p:sp>
        <p:nvSpPr>
          <p:cNvPr id="6" name="Text 4"/>
          <p:cNvSpPr/>
          <p:nvPr/>
        </p:nvSpPr>
        <p:spPr>
          <a:xfrm>
            <a:off x="548640" y="1965960"/>
            <a:ext cx="6126480" cy="2743200"/>
          </a:xfrm>
          <a:prstGeom prst="rect">
            <a:avLst/>
          </a:prstGeom>
          <a:noFill/>
          <a:ln/>
        </p:spPr>
        <p:txBody>
          <a:bodyPr wrap="square" lIns="0" tIns="0" rIns="0" bIns="0" rtlCol="0" anchor="t"/>
          <a:lstStyle/>
          <a:p>
            <a:pPr indent="0" marL="0">
              <a:lnSpc>
                <a:spcPct val="118000"/>
              </a:lnSpc>
              <a:spcAft>
                <a:spcPts val="800"/>
              </a:spcAft>
              <a:buNone/>
            </a:pPr>
            <a:r>
              <a:rPr lang="en-US" sz="1500" dirty="0">
                <a:solidFill>
                  <a:srgbClr val="B9B9C6"/>
                </a:solidFill>
                <a:latin typeface="Arial" pitchFamily="34" charset="0"/>
                <a:ea typeface="Arial" pitchFamily="34" charset="-122"/>
                <a:cs typeface="Arial" pitchFamily="34" charset="-120"/>
              </a:rPr>
              <a:t>The dynamics doc documents the baseline in full and sketches the higher rungs, with an explicit instruction: when you ship a new formulation, append it so the next agent builds on your work.</a:t>
            </a:r>
            <a:endParaRPr lang="en-US" sz="1500" dirty="0"/>
          </a:p>
          <a:p>
            <a:pPr indent="0" marL="0">
              <a:lnSpc>
                <a:spcPct val="118000"/>
              </a:lnSpc>
              <a:spcAft>
                <a:spcPts val="800"/>
              </a:spcAft>
              <a:buNone/>
            </a:pPr>
            <a:endParaRPr lang="en-US" sz="1500" dirty="0"/>
          </a:p>
          <a:p>
            <a:pPr indent="0" marL="0">
              <a:lnSpc>
                <a:spcPct val="118000"/>
              </a:lnSpc>
              <a:spcAft>
                <a:spcPts val="800"/>
              </a:spcAft>
              <a:buNone/>
            </a:pPr>
            <a:r>
              <a:rPr lang="en-US" sz="1500" b="1" dirty="0">
                <a:solidFill>
                  <a:srgbClr val="FFFFFF"/>
                </a:solidFill>
                <a:latin typeface="Arial" pitchFamily="34" charset="0"/>
                <a:ea typeface="Arial" pitchFamily="34" charset="-122"/>
                <a:cs typeface="Arial" pitchFamily="34" charset="-120"/>
              </a:rPr>
              <a:t>The knowledge base is a living artifact — the same recursive self-improvement loop as skills, applied to domain knowledge.</a:t>
            </a:r>
            <a:endParaRPr lang="en-US" sz="1500" dirty="0"/>
          </a:p>
        </p:txBody>
      </p:sp>
      <p:sp>
        <p:nvSpPr>
          <p:cNvPr id="7" name="Shape 5"/>
          <p:cNvSpPr/>
          <p:nvPr/>
        </p:nvSpPr>
        <p:spPr>
          <a:xfrm>
            <a:off x="548640" y="4800600"/>
            <a:ext cx="6126480" cy="1234440"/>
          </a:xfrm>
          <a:prstGeom prst="roundRect">
            <a:avLst>
              <a:gd name="adj" fmla="val 5185"/>
            </a:avLst>
          </a:prstGeom>
          <a:solidFill>
            <a:srgbClr val="0A0B24"/>
          </a:solidFill>
          <a:ln w="12700">
            <a:solidFill>
              <a:srgbClr val="FF7828"/>
            </a:solidFill>
            <a:prstDash val="solid"/>
          </a:ln>
        </p:spPr>
      </p:sp>
      <p:sp>
        <p:nvSpPr>
          <p:cNvPr id="8" name="Text 6"/>
          <p:cNvSpPr/>
          <p:nvPr/>
        </p:nvSpPr>
        <p:spPr>
          <a:xfrm>
            <a:off x="777240" y="4956048"/>
            <a:ext cx="5669280" cy="274320"/>
          </a:xfrm>
          <a:prstGeom prst="rect">
            <a:avLst/>
          </a:prstGeom>
          <a:noFill/>
          <a:ln/>
        </p:spPr>
        <p:txBody>
          <a:bodyPr wrap="square" lIns="0" tIns="0" rIns="0" bIns="0" rtlCol="0" anchor="ctr"/>
          <a:lstStyle/>
          <a:p>
            <a:pPr indent="0" marL="0">
              <a:buNone/>
            </a:pPr>
            <a:r>
              <a:rPr lang="en-US" sz="1050" b="1" spc="150" kern="0" dirty="0">
                <a:solidFill>
                  <a:srgbClr val="FF7828"/>
                </a:solidFill>
                <a:latin typeface="Arial" pitchFamily="34" charset="0"/>
                <a:ea typeface="Arial" pitchFamily="34" charset="-122"/>
                <a:cs typeface="Arial" pitchFamily="34" charset="-120"/>
              </a:rPr>
              <a:t>WHAT SELF-IMPROVEMENT LOOKS LIKE</a:t>
            </a:r>
            <a:endParaRPr lang="en-US" sz="1050" dirty="0"/>
          </a:p>
        </p:txBody>
      </p:sp>
      <p:sp>
        <p:nvSpPr>
          <p:cNvPr id="9" name="Text 7"/>
          <p:cNvSpPr/>
          <p:nvPr/>
        </p:nvSpPr>
        <p:spPr>
          <a:xfrm>
            <a:off x="777240" y="5230368"/>
            <a:ext cx="5669280" cy="713232"/>
          </a:xfrm>
          <a:prstGeom prst="rect">
            <a:avLst/>
          </a:prstGeom>
          <a:noFill/>
          <a:ln/>
        </p:spPr>
        <p:txBody>
          <a:bodyPr wrap="square" lIns="0" tIns="0" rIns="0" bIns="0" rtlCol="0" anchor="t"/>
          <a:lstStyle/>
          <a:p>
            <a:pPr indent="0" marL="0">
              <a:lnSpc>
                <a:spcPct val="105000"/>
              </a:lnSpc>
              <a:buNone/>
            </a:pPr>
            <a:r>
              <a:rPr lang="en-US" sz="1250" i="1" dirty="0">
                <a:solidFill>
                  <a:srgbClr val="FFFFFF"/>
                </a:solidFill>
                <a:latin typeface="Arial" pitchFamily="34" charset="0"/>
                <a:ea typeface="Arial" pitchFamily="34" charset="-122"/>
                <a:cs typeface="Arial" pitchFamily="34" charset="-120"/>
              </a:rPr>
              <a:t>Feed each failure back: “here is what went wrong — update the doc so this never happens again.” The artifact itself learns.</a:t>
            </a:r>
            <a:endParaRPr lang="en-US" sz="1250" dirty="0"/>
          </a:p>
        </p:txBody>
      </p:sp>
      <p:sp>
        <p:nvSpPr>
          <p:cNvPr id="10" name="Shape 8"/>
          <p:cNvSpPr/>
          <p:nvPr/>
        </p:nvSpPr>
        <p:spPr>
          <a:xfrm>
            <a:off x="6903720" y="1965960"/>
            <a:ext cx="4736592" cy="4069080"/>
          </a:xfrm>
          <a:prstGeom prst="roundRect">
            <a:avLst>
              <a:gd name="adj" fmla="val 179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1" name="Shape 9"/>
          <p:cNvSpPr/>
          <p:nvPr/>
        </p:nvSpPr>
        <p:spPr>
          <a:xfrm>
            <a:off x="7223760" y="2258568"/>
            <a:ext cx="777240" cy="777240"/>
          </a:xfrm>
          <a:prstGeom prst="ellipse">
            <a:avLst/>
          </a:prstGeom>
          <a:solidFill>
            <a:srgbClr val="FF7828"/>
          </a:solidFill>
          <a:ln/>
        </p:spPr>
      </p:sp>
      <p:sp>
        <p:nvSpPr>
          <p:cNvPr id="12" name="Text 10"/>
          <p:cNvSpPr/>
          <p:nvPr/>
        </p:nvSpPr>
        <p:spPr>
          <a:xfrm>
            <a:off x="7223760" y="2258568"/>
            <a:ext cx="777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RM</a:t>
            </a:r>
            <a:endParaRPr lang="en-US" sz="2100" dirty="0"/>
          </a:p>
        </p:txBody>
      </p:sp>
      <p:sp>
        <p:nvSpPr>
          <p:cNvPr id="13" name="Text 11"/>
          <p:cNvSpPr/>
          <p:nvPr/>
        </p:nvSpPr>
        <p:spPr>
          <a:xfrm>
            <a:off x="8275320" y="2276856"/>
            <a:ext cx="3044952"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Michael Shimeles (Ras Mic)</a:t>
            </a:r>
            <a:endParaRPr lang="en-US" sz="1600" dirty="0"/>
          </a:p>
        </p:txBody>
      </p:sp>
      <p:sp>
        <p:nvSpPr>
          <p:cNvPr id="14" name="Text 12"/>
          <p:cNvSpPr/>
          <p:nvPr/>
        </p:nvSpPr>
        <p:spPr>
          <a:xfrm>
            <a:off x="8275320" y="2679192"/>
            <a:ext cx="3044952" cy="457200"/>
          </a:xfrm>
          <a:prstGeom prst="rect">
            <a:avLst/>
          </a:prstGeom>
          <a:noFill/>
          <a:ln/>
        </p:spPr>
        <p:txBody>
          <a:bodyPr wrap="square" lIns="0" tIns="0" rIns="0" bIns="0" rtlCol="0" anchor="t"/>
          <a:lstStyle/>
          <a:p>
            <a:pPr algn="l" indent="0" marL="0">
              <a:lnSpc>
                <a:spcPct val="100000"/>
              </a:lnSpc>
              <a:buNone/>
            </a:pPr>
            <a:r>
              <a:rPr lang="en-US" sz="1050" dirty="0">
                <a:solidFill>
                  <a:srgbClr val="B9B9C6"/>
                </a:solidFill>
                <a:latin typeface="Arial" pitchFamily="34" charset="0"/>
                <a:ea typeface="Arial" pitchFamily="34" charset="-122"/>
                <a:cs typeface="Arial" pitchFamily="34" charset="-120"/>
              </a:rPr>
              <a:t>Engineer, Fabrika · Startup Ideas Podcast</a:t>
            </a:r>
            <a:endParaRPr lang="en-US" sz="1050" dirty="0"/>
          </a:p>
        </p:txBody>
      </p:sp>
      <p:sp>
        <p:nvSpPr>
          <p:cNvPr id="15" name="Text 13"/>
          <p:cNvSpPr/>
          <p:nvPr/>
        </p:nvSpPr>
        <p:spPr>
          <a:xfrm>
            <a:off x="7269480" y="3246120"/>
            <a:ext cx="4005072" cy="1371600"/>
          </a:xfrm>
          <a:prstGeom prst="rect">
            <a:avLst/>
          </a:prstGeom>
          <a:noFill/>
          <a:ln/>
        </p:spPr>
        <p:txBody>
          <a:bodyPr wrap="square" lIns="0" tIns="0" rIns="0" bIns="0" rtlCol="0" anchor="t"/>
          <a:lstStyle/>
          <a:p>
            <a:pPr algn="l" indent="0" marL="0">
              <a:lnSpc>
                <a:spcPct val="106000"/>
              </a:lnSpc>
              <a:buNone/>
            </a:pPr>
            <a:r>
              <a:rPr lang="en-US" sz="1300" b="1" dirty="0">
                <a:solidFill>
                  <a:srgbClr val="FF7828"/>
                </a:solidFill>
                <a:latin typeface="Arial" pitchFamily="34" charset="0"/>
                <a:ea typeface="Arial" pitchFamily="34" charset="-122"/>
                <a:cs typeface="Arial" pitchFamily="34" charset="-120"/>
              </a:rPr>
              <a:t>“</a:t>
            </a:r>
            <a:pPr algn="l" indent="0" marL="0">
              <a:lnSpc>
                <a:spcPct val="106000"/>
              </a:lnSpc>
              <a:buNone/>
            </a:pPr>
            <a:r>
              <a:rPr lang="en-US" sz="1300" i="1" dirty="0">
                <a:solidFill>
                  <a:srgbClr val="FFFFFF"/>
                </a:solidFill>
                <a:latin typeface="Arial" pitchFamily="34" charset="0"/>
                <a:ea typeface="Arial" pitchFamily="34" charset="-122"/>
                <a:cs typeface="Arial" pitchFamily="34" charset="-120"/>
              </a:rPr>
              <a:t>The models are good now — the differentiator is the context and harness you build around them.</a:t>
            </a:r>
            <a:pPr algn="l" indent="0" marL="0">
              <a:lnSpc>
                <a:spcPct val="106000"/>
              </a:lnSpc>
              <a:buNone/>
            </a:pPr>
            <a:r>
              <a:rPr lang="en-US" sz="1300" b="1" dirty="0">
                <a:solidFill>
                  <a:srgbClr val="FF7828"/>
                </a:solidFill>
                <a:latin typeface="Arial" pitchFamily="34" charset="0"/>
                <a:ea typeface="Arial" pitchFamily="34" charset="-122"/>
                <a:cs typeface="Arial" pitchFamily="34" charset="-120"/>
              </a:rPr>
              <a:t>”</a:t>
            </a:r>
            <a:endParaRPr lang="en-US" sz="1300" dirty="0"/>
          </a:p>
        </p:txBody>
      </p:sp>
      <p:sp>
        <p:nvSpPr>
          <p:cNvPr id="16" name="Text 14"/>
          <p:cNvSpPr/>
          <p:nvPr/>
        </p:nvSpPr>
        <p:spPr>
          <a:xfrm>
            <a:off x="7269480" y="5468112"/>
            <a:ext cx="4005072" cy="457200"/>
          </a:xfrm>
          <a:prstGeom prst="rect">
            <a:avLst/>
          </a:prstGeom>
          <a:noFill/>
          <a:ln/>
        </p:spPr>
        <p:txBody>
          <a:bodyPr wrap="square" lIns="0" tIns="0" rIns="0" bIns="0" rtlCol="0" anchor="t"/>
          <a:lstStyle/>
          <a:p>
            <a:pPr algn="l" indent="0" marL="0">
              <a:lnSpc>
                <a:spcPct val="100000"/>
              </a:lnSpc>
              <a:buNone/>
            </a:pPr>
            <a:r>
              <a:rPr lang="en-US" sz="950" dirty="0">
                <a:solidFill>
                  <a:srgbClr val="FF7828"/>
                </a:solidFill>
                <a:latin typeface="Arial" pitchFamily="34" charset="0"/>
                <a:ea typeface="Arial" pitchFamily="34" charset="-122"/>
                <a:cs typeface="Arial" pitchFamily="34" charset="-120"/>
              </a:rPr>
              <a:t>▶  </a:t>
            </a:r>
            <a:pPr algn="l" indent="0" marL="0">
              <a:lnSpc>
                <a:spcPct val="100000"/>
              </a:lnSpc>
              <a:buNone/>
            </a:pPr>
            <a:r>
              <a:rPr lang="en-US" sz="950" u="sng" dirty="0">
                <a:solidFill>
                  <a:srgbClr val="3D89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How AI Agents &amp; Claude Skills Work (YouTube)</a:t>
            </a:r>
            <a:endParaRPr lang="en-US" sz="950" dirty="0"/>
          </a:p>
        </p:txBody>
      </p:sp>
      <p:sp>
        <p:nvSpPr>
          <p:cNvPr id="17" name="Text 15"/>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8" name="Text 16"/>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Principle 6 · NC-21</a:t>
            </a:r>
            <a:endParaRPr lang="en-US" sz="950" dirty="0"/>
          </a:p>
        </p:txBody>
      </p:sp>
      <p:sp>
        <p:nvSpPr>
          <p:cNvPr id="19" name="Text 17"/>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B24"/>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lIns="0" tIns="0" rIns="0" bIns="0" rtlCol="0" anchor="ctr"/>
          <a:lstStyle/>
          <a:p>
            <a:pPr algn="l" indent="0" marL="0">
              <a:buNone/>
            </a:pPr>
            <a:r>
              <a:rPr lang="en-US" sz="1250" b="1" spc="200" kern="0" dirty="0">
                <a:solidFill>
                  <a:srgbClr val="3D89FF"/>
                </a:solidFill>
                <a:latin typeface="Arial" pitchFamily="34" charset="0"/>
                <a:ea typeface="Arial" pitchFamily="34" charset="-122"/>
                <a:cs typeface="Arial" pitchFamily="34" charset="-120"/>
              </a:rPr>
              <a:t>THE WIDER FRAME</a:t>
            </a:r>
            <a:endParaRPr lang="en-US" sz="1250" dirty="0"/>
          </a:p>
        </p:txBody>
      </p:sp>
      <p:sp>
        <p:nvSpPr>
          <p:cNvPr id="3" name="Text 1"/>
          <p:cNvSpPr/>
          <p:nvPr/>
        </p:nvSpPr>
        <p:spPr>
          <a:xfrm>
            <a:off x="548640" y="777240"/>
            <a:ext cx="11064240" cy="91440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This isn't a Quix opinion — it's where the field landed</a:t>
            </a:r>
            <a:endParaRPr lang="en-US" sz="3000" dirty="0"/>
          </a:p>
        </p:txBody>
      </p:sp>
      <p:sp>
        <p:nvSpPr>
          <p:cNvPr id="4" name="Shape 2"/>
          <p:cNvSpPr/>
          <p:nvPr/>
        </p:nvSpPr>
        <p:spPr>
          <a:xfrm>
            <a:off x="548640" y="1828800"/>
            <a:ext cx="5440680" cy="4114800"/>
          </a:xfrm>
          <a:prstGeom prst="roundRect">
            <a:avLst>
              <a:gd name="adj" fmla="val 177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5" name="Shape 3"/>
          <p:cNvSpPr/>
          <p:nvPr/>
        </p:nvSpPr>
        <p:spPr>
          <a:xfrm>
            <a:off x="868680" y="2121408"/>
            <a:ext cx="777240" cy="777240"/>
          </a:xfrm>
          <a:prstGeom prst="ellipse">
            <a:avLst/>
          </a:prstGeom>
          <a:solidFill>
            <a:srgbClr val="0064FF"/>
          </a:solidFill>
          <a:ln/>
        </p:spPr>
      </p:sp>
      <p:sp>
        <p:nvSpPr>
          <p:cNvPr id="6" name="Text 4"/>
          <p:cNvSpPr/>
          <p:nvPr/>
        </p:nvSpPr>
        <p:spPr>
          <a:xfrm>
            <a:off x="868680" y="2121408"/>
            <a:ext cx="777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BT</a:t>
            </a:r>
            <a:endParaRPr lang="en-US" sz="2100" dirty="0"/>
          </a:p>
        </p:txBody>
      </p:sp>
      <p:sp>
        <p:nvSpPr>
          <p:cNvPr id="7" name="Text 5"/>
          <p:cNvSpPr/>
          <p:nvPr/>
        </p:nvSpPr>
        <p:spPr>
          <a:xfrm>
            <a:off x="1920240" y="2139696"/>
            <a:ext cx="374904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BettaTech / Martín</a:t>
            </a:r>
            <a:endParaRPr lang="en-US" sz="1600" dirty="0"/>
          </a:p>
        </p:txBody>
      </p:sp>
      <p:sp>
        <p:nvSpPr>
          <p:cNvPr id="8" name="Text 6"/>
          <p:cNvSpPr/>
          <p:nvPr/>
        </p:nvSpPr>
        <p:spPr>
          <a:xfrm>
            <a:off x="1920240" y="2542032"/>
            <a:ext cx="3749040" cy="457200"/>
          </a:xfrm>
          <a:prstGeom prst="rect">
            <a:avLst/>
          </a:prstGeom>
          <a:noFill/>
          <a:ln/>
        </p:spPr>
        <p:txBody>
          <a:bodyPr wrap="square" lIns="0" tIns="0" rIns="0" bIns="0" rtlCol="0" anchor="t"/>
          <a:lstStyle/>
          <a:p>
            <a:pPr algn="l" indent="0" marL="0">
              <a:lnSpc>
                <a:spcPct val="100000"/>
              </a:lnSpc>
              <a:buNone/>
            </a:pPr>
            <a:r>
              <a:rPr lang="en-US" sz="1050" dirty="0">
                <a:solidFill>
                  <a:srgbClr val="B9B9C6"/>
                </a:solidFill>
                <a:latin typeface="Arial" pitchFamily="34" charset="0"/>
                <a:ea typeface="Arial" pitchFamily="34" charset="-122"/>
                <a:cs typeface="Arial" pitchFamily="34" charset="-120"/>
              </a:rPr>
              <a:t>Synthesising Hashimoto, Fowler &amp; Anthropic</a:t>
            </a:r>
            <a:endParaRPr lang="en-US" sz="1050" dirty="0"/>
          </a:p>
        </p:txBody>
      </p:sp>
      <p:sp>
        <p:nvSpPr>
          <p:cNvPr id="9" name="Text 7"/>
          <p:cNvSpPr/>
          <p:nvPr/>
        </p:nvSpPr>
        <p:spPr>
          <a:xfrm>
            <a:off x="914400" y="3108960"/>
            <a:ext cx="4709160" cy="1554480"/>
          </a:xfrm>
          <a:prstGeom prst="rect">
            <a:avLst/>
          </a:prstGeom>
          <a:noFill/>
          <a:ln/>
        </p:spPr>
        <p:txBody>
          <a:bodyPr wrap="square" lIns="0" tIns="0" rIns="0" bIns="0" rtlCol="0" anchor="t"/>
          <a:lstStyle/>
          <a:p>
            <a:pPr algn="l" indent="0" marL="0">
              <a:lnSpc>
                <a:spcPct val="106000"/>
              </a:lnSpc>
              <a:buNone/>
            </a:pPr>
            <a:r>
              <a:rPr lang="en-US" sz="1400" b="1" dirty="0">
                <a:solidFill>
                  <a:srgbClr val="0064FF"/>
                </a:solidFill>
                <a:latin typeface="Arial" pitchFamily="34" charset="0"/>
                <a:ea typeface="Arial" pitchFamily="34" charset="-122"/>
                <a:cs typeface="Arial" pitchFamily="34" charset="-120"/>
              </a:rPr>
              <a:t>“</a:t>
            </a:r>
            <a:pPr algn="l" indent="0" marL="0">
              <a:lnSpc>
                <a:spcPct val="106000"/>
              </a:lnSpc>
              <a:buNone/>
            </a:pPr>
            <a:r>
              <a:rPr lang="en-US" sz="1400" i="1" dirty="0">
                <a:solidFill>
                  <a:srgbClr val="FFFFFF"/>
                </a:solidFill>
                <a:latin typeface="Arial" pitchFamily="34" charset="0"/>
                <a:ea typeface="Arial" pitchFamily="34" charset="-122"/>
                <a:cs typeface="Arial" pitchFamily="34" charset="-120"/>
              </a:rPr>
              <a:t>Agent = Model + Harness. A decent model with a great harness beats a great model with a bad harness.</a:t>
            </a:r>
            <a:pPr algn="l" indent="0" marL="0">
              <a:lnSpc>
                <a:spcPct val="106000"/>
              </a:lnSpc>
              <a:buNone/>
            </a:pPr>
            <a:r>
              <a:rPr lang="en-US" sz="1400" b="1" dirty="0">
                <a:solidFill>
                  <a:srgbClr val="0064FF"/>
                </a:solidFill>
                <a:latin typeface="Arial" pitchFamily="34" charset="0"/>
                <a:ea typeface="Arial" pitchFamily="34" charset="-122"/>
                <a:cs typeface="Arial" pitchFamily="34" charset="-120"/>
              </a:rPr>
              <a:t>”</a:t>
            </a:r>
            <a:endParaRPr lang="en-US" sz="1400" dirty="0"/>
          </a:p>
        </p:txBody>
      </p:sp>
      <p:sp>
        <p:nvSpPr>
          <p:cNvPr id="10" name="Text 8"/>
          <p:cNvSpPr/>
          <p:nvPr/>
        </p:nvSpPr>
        <p:spPr>
          <a:xfrm>
            <a:off x="914400" y="5376672"/>
            <a:ext cx="4709160" cy="457200"/>
          </a:xfrm>
          <a:prstGeom prst="rect">
            <a:avLst/>
          </a:prstGeom>
          <a:noFill/>
          <a:ln/>
        </p:spPr>
        <p:txBody>
          <a:bodyPr wrap="square" lIns="0" tIns="0" rIns="0" bIns="0" rtlCol="0" anchor="t"/>
          <a:lstStyle/>
          <a:p>
            <a:pPr algn="l" indent="0" marL="0">
              <a:lnSpc>
                <a:spcPct val="100000"/>
              </a:lnSpc>
              <a:buNone/>
            </a:pPr>
            <a:r>
              <a:rPr lang="en-US" sz="950" dirty="0">
                <a:solidFill>
                  <a:srgbClr val="0064FF"/>
                </a:solidFill>
                <a:latin typeface="Arial" pitchFamily="34" charset="0"/>
                <a:ea typeface="Arial" pitchFamily="34" charset="-122"/>
                <a:cs typeface="Arial" pitchFamily="34" charset="-120"/>
              </a:rPr>
              <a:t>▶  </a:t>
            </a:r>
            <a:pPr algn="l" indent="0" marL="0">
              <a:lnSpc>
                <a:spcPct val="100000"/>
              </a:lnSpc>
              <a:buNone/>
            </a:pPr>
            <a:r>
              <a:rPr lang="en-US" sz="950" u="sng" dirty="0">
                <a:solidFill>
                  <a:srgbClr val="3D89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¿Qué es esto del Harness Engineering? (YouTube)</a:t>
            </a:r>
            <a:endParaRPr lang="en-US" sz="950" dirty="0"/>
          </a:p>
        </p:txBody>
      </p:sp>
      <p:sp>
        <p:nvSpPr>
          <p:cNvPr id="11" name="Shape 9"/>
          <p:cNvSpPr/>
          <p:nvPr/>
        </p:nvSpPr>
        <p:spPr>
          <a:xfrm>
            <a:off x="6199632" y="1828800"/>
            <a:ext cx="5440680" cy="4114800"/>
          </a:xfrm>
          <a:prstGeom prst="roundRect">
            <a:avLst>
              <a:gd name="adj" fmla="val 177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2" name="Shape 10"/>
          <p:cNvSpPr/>
          <p:nvPr/>
        </p:nvSpPr>
        <p:spPr>
          <a:xfrm>
            <a:off x="6519672" y="2121408"/>
            <a:ext cx="777240" cy="777240"/>
          </a:xfrm>
          <a:prstGeom prst="ellipse">
            <a:avLst/>
          </a:prstGeom>
          <a:solidFill>
            <a:srgbClr val="BD2EFF"/>
          </a:solidFill>
          <a:ln/>
        </p:spPr>
      </p:sp>
      <p:sp>
        <p:nvSpPr>
          <p:cNvPr id="13" name="Text 11"/>
          <p:cNvSpPr/>
          <p:nvPr/>
        </p:nvSpPr>
        <p:spPr>
          <a:xfrm>
            <a:off x="6519672" y="2121408"/>
            <a:ext cx="777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SG</a:t>
            </a:r>
            <a:endParaRPr lang="en-US" sz="2100" dirty="0"/>
          </a:p>
        </p:txBody>
      </p:sp>
      <p:sp>
        <p:nvSpPr>
          <p:cNvPr id="14" name="Text 12"/>
          <p:cNvSpPr/>
          <p:nvPr/>
        </p:nvSpPr>
        <p:spPr>
          <a:xfrm>
            <a:off x="7571232" y="2139696"/>
            <a:ext cx="3749040"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Sean Grove</a:t>
            </a:r>
            <a:endParaRPr lang="en-US" sz="1600" dirty="0"/>
          </a:p>
        </p:txBody>
      </p:sp>
      <p:sp>
        <p:nvSpPr>
          <p:cNvPr id="15" name="Text 13"/>
          <p:cNvSpPr/>
          <p:nvPr/>
        </p:nvSpPr>
        <p:spPr>
          <a:xfrm>
            <a:off x="7571232" y="2542032"/>
            <a:ext cx="3749040" cy="457200"/>
          </a:xfrm>
          <a:prstGeom prst="rect">
            <a:avLst/>
          </a:prstGeom>
          <a:noFill/>
          <a:ln/>
        </p:spPr>
        <p:txBody>
          <a:bodyPr wrap="square" lIns="0" tIns="0" rIns="0" bIns="0" rtlCol="0" anchor="t"/>
          <a:lstStyle/>
          <a:p>
            <a:pPr algn="l" indent="0" marL="0">
              <a:lnSpc>
                <a:spcPct val="100000"/>
              </a:lnSpc>
              <a:buNone/>
            </a:pPr>
            <a:r>
              <a:rPr lang="en-US" sz="1050" dirty="0">
                <a:solidFill>
                  <a:srgbClr val="B9B9C6"/>
                </a:solidFill>
                <a:latin typeface="Arial" pitchFamily="34" charset="0"/>
                <a:ea typeface="Arial" pitchFamily="34" charset="-122"/>
                <a:cs typeface="Arial" pitchFamily="34" charset="-120"/>
              </a:rPr>
              <a:t>ex-OpenAI, Post-Training &amp; Alignment · “The New Code”</a:t>
            </a:r>
            <a:endParaRPr lang="en-US" sz="1050" dirty="0"/>
          </a:p>
        </p:txBody>
      </p:sp>
      <p:sp>
        <p:nvSpPr>
          <p:cNvPr id="16" name="Text 14"/>
          <p:cNvSpPr/>
          <p:nvPr/>
        </p:nvSpPr>
        <p:spPr>
          <a:xfrm>
            <a:off x="6565392" y="3108960"/>
            <a:ext cx="4709160" cy="1554480"/>
          </a:xfrm>
          <a:prstGeom prst="rect">
            <a:avLst/>
          </a:prstGeom>
          <a:noFill/>
          <a:ln/>
        </p:spPr>
        <p:txBody>
          <a:bodyPr wrap="square" lIns="0" tIns="0" rIns="0" bIns="0" rtlCol="0" anchor="t"/>
          <a:lstStyle/>
          <a:p>
            <a:pPr algn="l" indent="0" marL="0">
              <a:lnSpc>
                <a:spcPct val="106000"/>
              </a:lnSpc>
              <a:buNone/>
            </a:pPr>
            <a:r>
              <a:rPr lang="en-US" sz="1400" b="1" dirty="0">
                <a:solidFill>
                  <a:srgbClr val="BD2EFF"/>
                </a:solidFill>
                <a:latin typeface="Arial" pitchFamily="34" charset="0"/>
                <a:ea typeface="Arial" pitchFamily="34" charset="-122"/>
                <a:cs typeface="Arial" pitchFamily="34" charset="-120"/>
              </a:rPr>
              <a:t>“</a:t>
            </a:r>
            <a:pPr algn="l" indent="0" marL="0">
              <a:lnSpc>
                <a:spcPct val="106000"/>
              </a:lnSpc>
              <a:buNone/>
            </a:pPr>
            <a:r>
              <a:rPr lang="en-US" sz="1400" i="1" dirty="0">
                <a:solidFill>
                  <a:srgbClr val="FFFFFF"/>
                </a:solidFill>
                <a:latin typeface="Arial" pitchFamily="34" charset="0"/>
                <a:ea typeface="Arial" pitchFamily="34" charset="-122"/>
                <a:cs typeface="Arial" pitchFamily="34" charset="-120"/>
              </a:rPr>
              <a:t>Code is a lossy projection of intent. The programmer is whoever writes the spec.</a:t>
            </a:r>
            <a:pPr algn="l" indent="0" marL="0">
              <a:lnSpc>
                <a:spcPct val="106000"/>
              </a:lnSpc>
              <a:buNone/>
            </a:pPr>
            <a:r>
              <a:rPr lang="en-US" sz="1400" b="1" dirty="0">
                <a:solidFill>
                  <a:srgbClr val="BD2EFF"/>
                </a:solidFill>
                <a:latin typeface="Arial" pitchFamily="34" charset="0"/>
                <a:ea typeface="Arial" pitchFamily="34" charset="-122"/>
                <a:cs typeface="Arial" pitchFamily="34" charset="-120"/>
              </a:rPr>
              <a:t>”</a:t>
            </a:r>
            <a:endParaRPr lang="en-US" sz="1400" dirty="0"/>
          </a:p>
        </p:txBody>
      </p:sp>
      <p:sp>
        <p:nvSpPr>
          <p:cNvPr id="17" name="Text 15"/>
          <p:cNvSpPr/>
          <p:nvPr/>
        </p:nvSpPr>
        <p:spPr>
          <a:xfrm>
            <a:off x="6565392" y="5376672"/>
            <a:ext cx="4709160" cy="457200"/>
          </a:xfrm>
          <a:prstGeom prst="rect">
            <a:avLst/>
          </a:prstGeom>
          <a:noFill/>
          <a:ln/>
        </p:spPr>
        <p:txBody>
          <a:bodyPr wrap="square" lIns="0" tIns="0" rIns="0" bIns="0" rtlCol="0" anchor="t"/>
          <a:lstStyle/>
          <a:p>
            <a:pPr algn="l" indent="0" marL="0">
              <a:lnSpc>
                <a:spcPct val="100000"/>
              </a:lnSpc>
              <a:buNone/>
            </a:pPr>
            <a:r>
              <a:rPr lang="en-US" sz="950" dirty="0">
                <a:solidFill>
                  <a:srgbClr val="BD2EFF"/>
                </a:solidFill>
                <a:latin typeface="Arial" pitchFamily="34" charset="0"/>
                <a:ea typeface="Arial" pitchFamily="34" charset="-122"/>
                <a:cs typeface="Arial" pitchFamily="34" charset="-120"/>
              </a:rPr>
              <a:t>▶  </a:t>
            </a:r>
            <a:pPr algn="l" indent="0" marL="0">
              <a:lnSpc>
                <a:spcPct val="100000"/>
              </a:lnSpc>
              <a:buNone/>
            </a:pPr>
            <a:r>
              <a:rPr lang="en-US" sz="950" u="sng" dirty="0">
                <a:solidFill>
                  <a:srgbClr val="3D89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AI Engineer World's Fair (YouTube)</a:t>
            </a:r>
            <a:endParaRPr lang="en-US" sz="950" dirty="0"/>
          </a:p>
        </p:txBody>
      </p:sp>
      <p:sp>
        <p:nvSpPr>
          <p:cNvPr id="18" name="Text 16"/>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19" name="Text 17"/>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NC-13 / NC-22 — cross-vendor spec/skill convergence</a:t>
            </a:r>
            <a:endParaRPr lang="en-US" sz="950" dirty="0"/>
          </a:p>
        </p:txBody>
      </p:sp>
      <p:sp>
        <p:nvSpPr>
          <p:cNvPr id="20" name="Text 18"/>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B16"/>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lIns="0" tIns="0" rIns="0" bIns="0" rtlCol="0" anchor="ctr"/>
          <a:lstStyle/>
          <a:p>
            <a:pPr algn="l" indent="0" marL="0">
              <a:buNone/>
            </a:pPr>
            <a:r>
              <a:rPr lang="en-US" sz="1250" b="1" spc="200" kern="0" dirty="0">
                <a:solidFill>
                  <a:srgbClr val="00DD81"/>
                </a:solidFill>
                <a:latin typeface="Arial" pitchFamily="34" charset="0"/>
                <a:ea typeface="Arial" pitchFamily="34" charset="-122"/>
                <a:cs typeface="Arial" pitchFamily="34" charset="-120"/>
              </a:rPr>
              <a:t>WHY PROGRESSIVE DISCLOSURE MATTERS</a:t>
            </a:r>
            <a:endParaRPr lang="en-US" sz="1250" dirty="0"/>
          </a:p>
        </p:txBody>
      </p:sp>
      <p:sp>
        <p:nvSpPr>
          <p:cNvPr id="3" name="Text 1"/>
          <p:cNvSpPr/>
          <p:nvPr/>
        </p:nvSpPr>
        <p:spPr>
          <a:xfrm>
            <a:off x="548640" y="777240"/>
            <a:ext cx="11064240" cy="91440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You don't get to fill the context window</a:t>
            </a:r>
            <a:endParaRPr lang="en-US" sz="3000" dirty="0"/>
          </a:p>
        </p:txBody>
      </p:sp>
      <p:sp>
        <p:nvSpPr>
          <p:cNvPr id="4" name="Text 2"/>
          <p:cNvSpPr/>
          <p:nvPr/>
        </p:nvSpPr>
        <p:spPr>
          <a:xfrm>
            <a:off x="548640" y="1828800"/>
            <a:ext cx="5989320" cy="2194560"/>
          </a:xfrm>
          <a:prstGeom prst="rect">
            <a:avLst/>
          </a:prstGeom>
          <a:noFill/>
          <a:ln/>
        </p:spPr>
        <p:txBody>
          <a:bodyPr wrap="square" lIns="0" tIns="0" rIns="0" bIns="0" rtlCol="0" anchor="t"/>
          <a:lstStyle/>
          <a:p>
            <a:pPr indent="0" marL="0">
              <a:lnSpc>
                <a:spcPct val="118000"/>
              </a:lnSpc>
              <a:buNone/>
            </a:pPr>
            <a:r>
              <a:rPr lang="en-US" sz="1500" b="1" dirty="0">
                <a:solidFill>
                  <a:srgbClr val="FFFFFF"/>
                </a:solidFill>
                <a:latin typeface="Arial" pitchFamily="34" charset="0"/>
                <a:ea typeface="Arial" pitchFamily="34" charset="-122"/>
                <a:cs typeface="Arial" pitchFamily="34" charset="-120"/>
              </a:rPr>
              <a:t>Frontier context windows degrade long before they're full. </a:t>
            </a:r>
            <a:pPr indent="0" marL="0">
              <a:lnSpc>
                <a:spcPct val="118000"/>
              </a:lnSpc>
              <a:buNone/>
            </a:pPr>
            <a:r>
              <a:rPr lang="en-US" sz="1500" dirty="0">
                <a:solidFill>
                  <a:srgbClr val="B9B9C6"/>
                </a:solidFill>
                <a:latin typeface="Arial" pitchFamily="34" charset="0"/>
                <a:ea typeface="Arial" pitchFamily="34" charset="-122"/>
                <a:cs typeface="Arial" pitchFamily="34" charset="-120"/>
              </a:rPr>
              <a:t>Performance is roughly flat in the “smart zone”, deteriorates around 40% fill (“warm zone”) and collapses past 60% (“dumb zone”). Loading every reference doc all the time pushes the agent straight into the danger zone — which is exactly why Module 3 docs load only when relevant.</a:t>
            </a:r>
            <a:endParaRPr lang="en-US" sz="1500" dirty="0"/>
          </a:p>
        </p:txBody>
      </p:sp>
      <p:sp>
        <p:nvSpPr>
          <p:cNvPr id="5" name="Shape 3"/>
          <p:cNvSpPr/>
          <p:nvPr/>
        </p:nvSpPr>
        <p:spPr>
          <a:xfrm>
            <a:off x="548640" y="4206240"/>
            <a:ext cx="2036369" cy="566928"/>
          </a:xfrm>
          <a:prstGeom prst="rect">
            <a:avLst/>
          </a:prstGeom>
          <a:solidFill>
            <a:srgbClr val="00DD81"/>
          </a:solidFill>
          <a:ln/>
        </p:spPr>
      </p:sp>
      <p:sp>
        <p:nvSpPr>
          <p:cNvPr id="6" name="Text 4"/>
          <p:cNvSpPr/>
          <p:nvPr/>
        </p:nvSpPr>
        <p:spPr>
          <a:xfrm>
            <a:off x="548640" y="4206240"/>
            <a:ext cx="2036369"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SMART  &lt;30%</a:t>
            </a:r>
            <a:endParaRPr lang="en-US" sz="1050" dirty="0"/>
          </a:p>
        </p:txBody>
      </p:sp>
      <p:sp>
        <p:nvSpPr>
          <p:cNvPr id="7" name="Shape 5"/>
          <p:cNvSpPr/>
          <p:nvPr/>
        </p:nvSpPr>
        <p:spPr>
          <a:xfrm>
            <a:off x="2585009" y="4206240"/>
            <a:ext cx="1557223" cy="566928"/>
          </a:xfrm>
          <a:prstGeom prst="rect">
            <a:avLst/>
          </a:prstGeom>
          <a:solidFill>
            <a:srgbClr val="FF7828"/>
          </a:solidFill>
          <a:ln/>
        </p:spPr>
      </p:sp>
      <p:sp>
        <p:nvSpPr>
          <p:cNvPr id="8" name="Text 6"/>
          <p:cNvSpPr/>
          <p:nvPr/>
        </p:nvSpPr>
        <p:spPr>
          <a:xfrm>
            <a:off x="2585009" y="4206240"/>
            <a:ext cx="1557223" cy="566928"/>
          </a:xfrm>
          <a:prstGeom prst="rect">
            <a:avLst/>
          </a:prstGeom>
          <a:noFill/>
          <a:ln/>
        </p:spPr>
        <p:txBody>
          <a:bodyPr wrap="square" lIns="0" tIns="0" rIns="0" bIns="0" rtlCol="0" anchor="ctr"/>
          <a:lstStyle/>
          <a:p>
            <a:pPr algn="ctr" indent="0" marL="0">
              <a:buNone/>
            </a:pPr>
            <a:r>
              <a:rPr lang="en-US" sz="1050" b="1" dirty="0">
                <a:solidFill>
                  <a:srgbClr val="0A0B24"/>
                </a:solidFill>
                <a:latin typeface="Arial" pitchFamily="34" charset="0"/>
                <a:ea typeface="Arial" pitchFamily="34" charset="-122"/>
                <a:cs typeface="Arial" pitchFamily="34" charset="-120"/>
              </a:rPr>
              <a:t>WARM  30–40%</a:t>
            </a:r>
            <a:endParaRPr lang="en-US" sz="1050" dirty="0"/>
          </a:p>
        </p:txBody>
      </p:sp>
      <p:sp>
        <p:nvSpPr>
          <p:cNvPr id="9" name="Shape 7"/>
          <p:cNvSpPr/>
          <p:nvPr/>
        </p:nvSpPr>
        <p:spPr>
          <a:xfrm>
            <a:off x="4142232" y="4206240"/>
            <a:ext cx="2395728" cy="566928"/>
          </a:xfrm>
          <a:prstGeom prst="rect">
            <a:avLst/>
          </a:prstGeom>
          <a:solidFill>
            <a:srgbClr val="FF4040"/>
          </a:solidFill>
          <a:ln/>
        </p:spPr>
      </p:sp>
      <p:sp>
        <p:nvSpPr>
          <p:cNvPr id="10" name="Text 8"/>
          <p:cNvSpPr/>
          <p:nvPr/>
        </p:nvSpPr>
        <p:spPr>
          <a:xfrm>
            <a:off x="4142232" y="4206240"/>
            <a:ext cx="2395728" cy="566928"/>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DUMB  &gt;40%</a:t>
            </a:r>
            <a:endParaRPr lang="en-US" sz="1050" dirty="0"/>
          </a:p>
        </p:txBody>
      </p:sp>
      <p:sp>
        <p:nvSpPr>
          <p:cNvPr id="11" name="Text 9"/>
          <p:cNvSpPr/>
          <p:nvPr/>
        </p:nvSpPr>
        <p:spPr>
          <a:xfrm>
            <a:off x="548640" y="4864608"/>
            <a:ext cx="5989320" cy="274320"/>
          </a:xfrm>
          <a:prstGeom prst="rect">
            <a:avLst/>
          </a:prstGeom>
          <a:noFill/>
          <a:ln/>
        </p:spPr>
        <p:txBody>
          <a:bodyPr wrap="square" lIns="0" tIns="0" rIns="0" bIns="0" rtlCol="0" anchor="ctr"/>
          <a:lstStyle/>
          <a:p>
            <a:pPr algn="r" indent="0" marL="0">
              <a:buNone/>
            </a:pPr>
            <a:r>
              <a:rPr lang="en-US" sz="1000" i="1" dirty="0">
                <a:solidFill>
                  <a:srgbClr val="8A8A99"/>
                </a:solidFill>
                <a:latin typeface="Arial" pitchFamily="34" charset="0"/>
                <a:ea typeface="Arial" pitchFamily="34" charset="-122"/>
                <a:cs typeface="Arial" pitchFamily="34" charset="-120"/>
              </a:rPr>
              <a:t>context fill →</a:t>
            </a:r>
            <a:endParaRPr lang="en-US" sz="1000" dirty="0"/>
          </a:p>
        </p:txBody>
      </p:sp>
      <p:sp>
        <p:nvSpPr>
          <p:cNvPr id="12" name="Shape 10"/>
          <p:cNvSpPr/>
          <p:nvPr/>
        </p:nvSpPr>
        <p:spPr>
          <a:xfrm>
            <a:off x="6903720" y="1828800"/>
            <a:ext cx="4736592" cy="4114800"/>
          </a:xfrm>
          <a:prstGeom prst="roundRect">
            <a:avLst>
              <a:gd name="adj" fmla="val 1778"/>
            </a:avLst>
          </a:prstGeom>
          <a:solidFill>
            <a:srgbClr val="222229"/>
          </a:solidFill>
          <a:ln w="12700">
            <a:solidFill>
              <a:srgbClr val="2B2B34"/>
            </a:solidFill>
            <a:prstDash val="solid"/>
          </a:ln>
          <a:effectLst>
            <a:outerShdw sx="100000" sy="100000" kx="0" ky="0" algn="bl" rotWithShape="0" blurRad="114300" dist="38100" dir="5400000">
              <a:srgbClr val="000000">
                <a:alpha val="28000"/>
              </a:srgbClr>
            </a:outerShdw>
          </a:effectLst>
        </p:spPr>
      </p:sp>
      <p:sp>
        <p:nvSpPr>
          <p:cNvPr id="13" name="Shape 11"/>
          <p:cNvSpPr/>
          <p:nvPr/>
        </p:nvSpPr>
        <p:spPr>
          <a:xfrm>
            <a:off x="7223760" y="2121408"/>
            <a:ext cx="777240" cy="777240"/>
          </a:xfrm>
          <a:prstGeom prst="ellipse">
            <a:avLst/>
          </a:prstGeom>
          <a:solidFill>
            <a:srgbClr val="0064FF"/>
          </a:solidFill>
          <a:ln/>
        </p:spPr>
      </p:sp>
      <p:sp>
        <p:nvSpPr>
          <p:cNvPr id="14" name="Text 12"/>
          <p:cNvSpPr/>
          <p:nvPr/>
        </p:nvSpPr>
        <p:spPr>
          <a:xfrm>
            <a:off x="7223760" y="2121408"/>
            <a:ext cx="777240" cy="777240"/>
          </a:xfrm>
          <a:prstGeom prst="rect">
            <a:avLst/>
          </a:prstGeom>
          <a:noFill/>
          <a:ln/>
        </p:spPr>
        <p:txBody>
          <a:bodyPr wrap="square" lIns="0" tIns="0" rIns="0" bIns="0" rtlCol="0" anchor="ctr"/>
          <a:lstStyle/>
          <a:p>
            <a:pPr algn="ctr" indent="0" marL="0">
              <a:buNone/>
            </a:pPr>
            <a:r>
              <a:rPr lang="en-US" sz="2100" b="1" dirty="0">
                <a:solidFill>
                  <a:srgbClr val="FFFFFF"/>
                </a:solidFill>
                <a:latin typeface="Arial" pitchFamily="34" charset="0"/>
                <a:ea typeface="Arial" pitchFamily="34" charset="-122"/>
                <a:cs typeface="Arial" pitchFamily="34" charset="-120"/>
              </a:rPr>
              <a:t>DH</a:t>
            </a:r>
            <a:endParaRPr lang="en-US" sz="2100" dirty="0"/>
          </a:p>
        </p:txBody>
      </p:sp>
      <p:sp>
        <p:nvSpPr>
          <p:cNvPr id="15" name="Text 13"/>
          <p:cNvSpPr/>
          <p:nvPr/>
        </p:nvSpPr>
        <p:spPr>
          <a:xfrm>
            <a:off x="8275320" y="2139696"/>
            <a:ext cx="3044952" cy="365760"/>
          </a:xfrm>
          <a:prstGeom prst="rect">
            <a:avLst/>
          </a:prstGeom>
          <a:noFill/>
          <a:ln/>
        </p:spPr>
        <p:txBody>
          <a:bodyPr wrap="square" lIns="0" tIns="0" rIns="0" bIns="0" rtlCol="0" anchor="ctr"/>
          <a:lstStyle/>
          <a:p>
            <a:pPr algn="l" indent="0" marL="0">
              <a:buNone/>
            </a:pPr>
            <a:r>
              <a:rPr lang="en-US" sz="1600" b="1" dirty="0">
                <a:solidFill>
                  <a:srgbClr val="FFFFFF"/>
                </a:solidFill>
                <a:latin typeface="Arial" pitchFamily="34" charset="0"/>
                <a:ea typeface="Arial" pitchFamily="34" charset="-122"/>
                <a:cs typeface="Arial" pitchFamily="34" charset="-120"/>
              </a:rPr>
              <a:t>Dex Horthy</a:t>
            </a:r>
            <a:endParaRPr lang="en-US" sz="1600" dirty="0"/>
          </a:p>
        </p:txBody>
      </p:sp>
      <p:sp>
        <p:nvSpPr>
          <p:cNvPr id="16" name="Text 14"/>
          <p:cNvSpPr/>
          <p:nvPr/>
        </p:nvSpPr>
        <p:spPr>
          <a:xfrm>
            <a:off x="8275320" y="2542032"/>
            <a:ext cx="3044952" cy="457200"/>
          </a:xfrm>
          <a:prstGeom prst="rect">
            <a:avLst/>
          </a:prstGeom>
          <a:noFill/>
          <a:ln/>
        </p:spPr>
        <p:txBody>
          <a:bodyPr wrap="square" lIns="0" tIns="0" rIns="0" bIns="0" rtlCol="0" anchor="t"/>
          <a:lstStyle/>
          <a:p>
            <a:pPr algn="l" indent="0" marL="0">
              <a:lnSpc>
                <a:spcPct val="100000"/>
              </a:lnSpc>
              <a:buNone/>
            </a:pPr>
            <a:r>
              <a:rPr lang="en-US" sz="1050" dirty="0">
                <a:solidFill>
                  <a:srgbClr val="B9B9C6"/>
                </a:solidFill>
                <a:latin typeface="Arial" pitchFamily="34" charset="0"/>
                <a:ea typeface="Arial" pitchFamily="34" charset="-122"/>
                <a:cs typeface="Arial" pitchFamily="34" charset="-120"/>
              </a:rPr>
              <a:t>HumanLayer · author, 12-Factor Agents</a:t>
            </a:r>
            <a:endParaRPr lang="en-US" sz="1050" dirty="0"/>
          </a:p>
        </p:txBody>
      </p:sp>
      <p:sp>
        <p:nvSpPr>
          <p:cNvPr id="17" name="Text 15"/>
          <p:cNvSpPr/>
          <p:nvPr/>
        </p:nvSpPr>
        <p:spPr>
          <a:xfrm>
            <a:off x="7269480" y="3108960"/>
            <a:ext cx="4005072" cy="1737360"/>
          </a:xfrm>
          <a:prstGeom prst="rect">
            <a:avLst/>
          </a:prstGeom>
          <a:noFill/>
          <a:ln/>
        </p:spPr>
        <p:txBody>
          <a:bodyPr wrap="square" lIns="0" tIns="0" rIns="0" bIns="0" rtlCol="0" anchor="t"/>
          <a:lstStyle/>
          <a:p>
            <a:pPr algn="l" indent="0" marL="0">
              <a:lnSpc>
                <a:spcPct val="106000"/>
              </a:lnSpc>
              <a:buNone/>
            </a:pPr>
            <a:r>
              <a:rPr lang="en-US" sz="1300" b="1" dirty="0">
                <a:solidFill>
                  <a:srgbClr val="0064FF"/>
                </a:solidFill>
                <a:latin typeface="Arial" pitchFamily="34" charset="0"/>
                <a:ea typeface="Arial" pitchFamily="34" charset="-122"/>
                <a:cs typeface="Arial" pitchFamily="34" charset="-120"/>
              </a:rPr>
              <a:t>“</a:t>
            </a:r>
            <a:pPr algn="l" indent="0" marL="0">
              <a:lnSpc>
                <a:spcPct val="106000"/>
              </a:lnSpc>
              <a:buNone/>
            </a:pPr>
            <a:r>
              <a:rPr lang="en-US" sz="1300" i="1" dirty="0">
                <a:solidFill>
                  <a:srgbClr val="FFFFFF"/>
                </a:solidFill>
                <a:latin typeface="Arial" pitchFamily="34" charset="0"/>
                <a:ea typeface="Arial" pitchFamily="34" charset="-122"/>
                <a:cs typeface="Arial" pitchFamily="34" charset="-120"/>
              </a:rPr>
              <a:t>The contents of your context window are the ONLY lever you have on output quality. You cannot outsource the thinking.</a:t>
            </a:r>
            <a:pPr algn="l" indent="0" marL="0">
              <a:lnSpc>
                <a:spcPct val="106000"/>
              </a:lnSpc>
              <a:buNone/>
            </a:pPr>
            <a:r>
              <a:rPr lang="en-US" sz="1300" b="1" dirty="0">
                <a:solidFill>
                  <a:srgbClr val="0064FF"/>
                </a:solidFill>
                <a:latin typeface="Arial" pitchFamily="34" charset="0"/>
                <a:ea typeface="Arial" pitchFamily="34" charset="-122"/>
                <a:cs typeface="Arial" pitchFamily="34" charset="-120"/>
              </a:rPr>
              <a:t>”</a:t>
            </a:r>
            <a:endParaRPr lang="en-US" sz="1300" dirty="0"/>
          </a:p>
        </p:txBody>
      </p:sp>
      <p:sp>
        <p:nvSpPr>
          <p:cNvPr id="18" name="Text 16"/>
          <p:cNvSpPr/>
          <p:nvPr/>
        </p:nvSpPr>
        <p:spPr>
          <a:xfrm>
            <a:off x="7269480" y="5376672"/>
            <a:ext cx="4005072" cy="457200"/>
          </a:xfrm>
          <a:prstGeom prst="rect">
            <a:avLst/>
          </a:prstGeom>
          <a:noFill/>
          <a:ln/>
        </p:spPr>
        <p:txBody>
          <a:bodyPr wrap="square" lIns="0" tIns="0" rIns="0" bIns="0" rtlCol="0" anchor="t"/>
          <a:lstStyle/>
          <a:p>
            <a:pPr algn="l" indent="0" marL="0">
              <a:lnSpc>
                <a:spcPct val="100000"/>
              </a:lnSpc>
              <a:buNone/>
            </a:pPr>
            <a:r>
              <a:rPr lang="en-US" sz="950" dirty="0">
                <a:solidFill>
                  <a:srgbClr val="0064FF"/>
                </a:solidFill>
                <a:latin typeface="Arial" pitchFamily="34" charset="0"/>
                <a:ea typeface="Arial" pitchFamily="34" charset="-122"/>
                <a:cs typeface="Arial" pitchFamily="34" charset="-120"/>
              </a:rPr>
              <a:t>▶  </a:t>
            </a:r>
            <a:pPr algn="l" indent="0" marL="0">
              <a:lnSpc>
                <a:spcPct val="100000"/>
              </a:lnSpc>
              <a:buNone/>
            </a:pPr>
            <a:r>
              <a:rPr lang="en-US" sz="950" u="sng" dirty="0">
                <a:solidFill>
                  <a:srgbClr val="3D89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Advanced Context Engineering for Agents (YouTube)</a:t>
            </a:r>
            <a:endParaRPr lang="en-US" sz="950" dirty="0"/>
          </a:p>
        </p:txBody>
      </p:sp>
      <p:sp>
        <p:nvSpPr>
          <p:cNvPr id="19" name="Text 17"/>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20" name="Text 18"/>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NC-28 / NC-12</a:t>
            </a:r>
            <a:endParaRPr lang="en-US" sz="950" dirty="0"/>
          </a:p>
        </p:txBody>
      </p:sp>
      <p:sp>
        <p:nvSpPr>
          <p:cNvPr id="21" name="Text 19"/>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B24"/>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lIns="0" tIns="0" rIns="0" bIns="0" rtlCol="0" anchor="ctr"/>
          <a:lstStyle/>
          <a:p>
            <a:pPr algn="l" indent="0" marL="0">
              <a:buNone/>
            </a:pPr>
            <a:r>
              <a:rPr lang="en-US" sz="1250" b="1" spc="200" kern="0" dirty="0">
                <a:solidFill>
                  <a:srgbClr val="3D89FF"/>
                </a:solidFill>
                <a:latin typeface="Arial" pitchFamily="34" charset="0"/>
                <a:ea typeface="Arial" pitchFamily="34" charset="-122"/>
                <a:cs typeface="Arial" pitchFamily="34" charset="-120"/>
              </a:rPr>
              <a:t>REFERENCES &amp; FURTHER READING</a:t>
            </a:r>
            <a:endParaRPr lang="en-US" sz="1250" dirty="0"/>
          </a:p>
        </p:txBody>
      </p:sp>
      <p:sp>
        <p:nvSpPr>
          <p:cNvPr id="3" name="Text 1"/>
          <p:cNvSpPr/>
          <p:nvPr/>
        </p:nvSpPr>
        <p:spPr>
          <a:xfrm>
            <a:off x="548640" y="777240"/>
            <a:ext cx="11064240" cy="914400"/>
          </a:xfrm>
          <a:prstGeom prst="rect">
            <a:avLst/>
          </a:prstGeom>
          <a:noFill/>
          <a:ln/>
        </p:spPr>
        <p:txBody>
          <a:bodyPr wrap="square" lIns="0" tIns="0" rIns="0" bIns="0" rtlCol="0" anchor="t"/>
          <a:lstStyle/>
          <a:p>
            <a:pPr algn="l" indent="0" marL="0">
              <a:lnSpc>
                <a:spcPct val="100000"/>
              </a:lnSpc>
              <a:buNone/>
            </a:pPr>
            <a:r>
              <a:rPr lang="en-US" sz="3000" b="1" dirty="0">
                <a:solidFill>
                  <a:srgbClr val="FFFFFF"/>
                </a:solidFill>
                <a:latin typeface="Arial" pitchFamily="34" charset="0"/>
                <a:ea typeface="Arial" pitchFamily="34" charset="-122"/>
                <a:cs typeface="Arial" pitchFamily="34" charset="-120"/>
              </a:rPr>
              <a:t>Quote the people who paid for this knowledge</a:t>
            </a:r>
            <a:endParaRPr lang="en-US" sz="3000" dirty="0"/>
          </a:p>
        </p:txBody>
      </p:sp>
      <p:sp>
        <p:nvSpPr>
          <p:cNvPr id="4" name="Text 2"/>
          <p:cNvSpPr/>
          <p:nvPr/>
        </p:nvSpPr>
        <p:spPr>
          <a:xfrm>
            <a:off x="548640" y="1783080"/>
            <a:ext cx="5486400" cy="320040"/>
          </a:xfrm>
          <a:prstGeom prst="rect">
            <a:avLst/>
          </a:prstGeom>
          <a:noFill/>
          <a:ln/>
        </p:spPr>
        <p:txBody>
          <a:bodyPr wrap="square" lIns="0" tIns="0" rIns="0" bIns="0" rtlCol="0" anchor="ctr"/>
          <a:lstStyle/>
          <a:p>
            <a:pPr indent="0" marL="0">
              <a:buNone/>
            </a:pPr>
            <a:r>
              <a:rPr lang="en-US" sz="1200" b="1" spc="150" kern="0" dirty="0">
                <a:solidFill>
                  <a:srgbClr val="FE9353"/>
                </a:solidFill>
                <a:latin typeface="Arial" pitchFamily="34" charset="0"/>
                <a:ea typeface="Arial" pitchFamily="34" charset="-122"/>
                <a:cs typeface="Arial" pitchFamily="34" charset="-120"/>
              </a:rPr>
              <a:t>TALKS  &amp;  SPEAKERS</a:t>
            </a:r>
            <a:endParaRPr lang="en-US" sz="1200" dirty="0"/>
          </a:p>
        </p:txBody>
      </p:sp>
      <p:sp>
        <p:nvSpPr>
          <p:cNvPr id="5" name="Shape 3"/>
          <p:cNvSpPr/>
          <p:nvPr/>
        </p:nvSpPr>
        <p:spPr>
          <a:xfrm>
            <a:off x="548640" y="2286000"/>
            <a:ext cx="128016" cy="128016"/>
          </a:xfrm>
          <a:prstGeom prst="ellipse">
            <a:avLst/>
          </a:prstGeom>
          <a:solidFill>
            <a:srgbClr val="0064FF"/>
          </a:solidFill>
          <a:ln/>
        </p:spPr>
      </p:sp>
      <p:sp>
        <p:nvSpPr>
          <p:cNvPr id="6" name="Text 4"/>
          <p:cNvSpPr/>
          <p:nvPr/>
        </p:nvSpPr>
        <p:spPr>
          <a:xfrm>
            <a:off x="822960" y="2194560"/>
            <a:ext cx="534924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Zhang &amp; Murag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Don't Build Agents, Build Skills Instead — Anthropic</a:t>
            </a:r>
            <a:endParaRPr lang="en-US" sz="1200" dirty="0"/>
          </a:p>
        </p:txBody>
      </p:sp>
      <p:sp>
        <p:nvSpPr>
          <p:cNvPr id="7" name="Text 5">
            <a:hlinkClick r:id="rId1" tooltip=""/>
          </p:cNvPr>
          <p:cNvSpPr/>
          <p:nvPr/>
        </p:nvSpPr>
        <p:spPr>
          <a:xfrm>
            <a:off x="822960" y="2523744"/>
            <a:ext cx="5349240" cy="237744"/>
          </a:xfrm>
          <a:prstGeom prst="rect">
            <a:avLst/>
          </a:prstGeom>
          <a:noFill/>
          <a:ln/>
        </p:spPr>
        <p:txBody>
          <a:bodyPr wrap="square" lIns="0" tIns="0" rIns="0" bIns="0" rtlCol="0" anchor="ctr"/>
          <a:lstStyle/>
          <a:p>
            <a:pPr indent="0" marL="0">
              <a:buNone/>
            </a:pPr>
            <a:r>
              <a:rPr lang="en-US" sz="950" u="sng" dirty="0">
                <a:solidFill>
                  <a:srgbClr val="3D89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youtube.com/watch?v=CEvIs9y1uog</a:t>
            </a:r>
            <a:endParaRPr lang="en-US" sz="950" dirty="0"/>
          </a:p>
        </p:txBody>
      </p:sp>
      <p:sp>
        <p:nvSpPr>
          <p:cNvPr id="8" name="Shape 6"/>
          <p:cNvSpPr/>
          <p:nvPr/>
        </p:nvSpPr>
        <p:spPr>
          <a:xfrm>
            <a:off x="548640" y="2962656"/>
            <a:ext cx="128016" cy="128016"/>
          </a:xfrm>
          <a:prstGeom prst="ellipse">
            <a:avLst/>
          </a:prstGeom>
          <a:solidFill>
            <a:srgbClr val="BD2EFF"/>
          </a:solidFill>
          <a:ln/>
        </p:spPr>
      </p:sp>
      <p:sp>
        <p:nvSpPr>
          <p:cNvPr id="9" name="Text 7"/>
          <p:cNvSpPr/>
          <p:nvPr/>
        </p:nvSpPr>
        <p:spPr>
          <a:xfrm>
            <a:off x="822960" y="2871216"/>
            <a:ext cx="534924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Cassie Kozyrkov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How to Customize Agentic AI for Your Organization</a:t>
            </a:r>
            <a:endParaRPr lang="en-US" sz="1200" dirty="0"/>
          </a:p>
        </p:txBody>
      </p:sp>
      <p:sp>
        <p:nvSpPr>
          <p:cNvPr id="10" name="Text 8">
            <a:hlinkClick r:id="rId2" tooltip=""/>
          </p:cNvPr>
          <p:cNvSpPr/>
          <p:nvPr/>
        </p:nvSpPr>
        <p:spPr>
          <a:xfrm>
            <a:off x="822960" y="3200400"/>
            <a:ext cx="5349240" cy="237744"/>
          </a:xfrm>
          <a:prstGeom prst="rect">
            <a:avLst/>
          </a:prstGeom>
          <a:noFill/>
          <a:ln/>
        </p:spPr>
        <p:txBody>
          <a:bodyPr wrap="square" lIns="0" tIns="0" rIns="0" bIns="0" rtlCol="0" anchor="ctr"/>
          <a:lstStyle/>
          <a:p>
            <a:pPr indent="0" marL="0">
              <a:buNone/>
            </a:pPr>
            <a:r>
              <a:rPr lang="en-US" sz="950" u="sng" dirty="0">
                <a:solidFill>
                  <a:srgbClr val="3D89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LinkedIn Live</a:t>
            </a:r>
            <a:endParaRPr lang="en-US" sz="950" dirty="0"/>
          </a:p>
        </p:txBody>
      </p:sp>
      <p:sp>
        <p:nvSpPr>
          <p:cNvPr id="11" name="Shape 9"/>
          <p:cNvSpPr/>
          <p:nvPr/>
        </p:nvSpPr>
        <p:spPr>
          <a:xfrm>
            <a:off x="548640" y="3639312"/>
            <a:ext cx="128016" cy="128016"/>
          </a:xfrm>
          <a:prstGeom prst="ellipse">
            <a:avLst/>
          </a:prstGeom>
          <a:solidFill>
            <a:srgbClr val="FF7828"/>
          </a:solidFill>
          <a:ln/>
        </p:spPr>
      </p:sp>
      <p:sp>
        <p:nvSpPr>
          <p:cNvPr id="12" name="Text 10"/>
          <p:cNvSpPr/>
          <p:nvPr/>
        </p:nvSpPr>
        <p:spPr>
          <a:xfrm>
            <a:off x="822960" y="3547872"/>
            <a:ext cx="534924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Michael Shimeles (Ras Mic)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How AI Agents &amp; Claude Skills Work</a:t>
            </a:r>
            <a:endParaRPr lang="en-US" sz="1200" dirty="0"/>
          </a:p>
        </p:txBody>
      </p:sp>
      <p:sp>
        <p:nvSpPr>
          <p:cNvPr id="13" name="Text 11">
            <a:hlinkClick r:id="rId3" tooltip=""/>
          </p:cNvPr>
          <p:cNvSpPr/>
          <p:nvPr/>
        </p:nvSpPr>
        <p:spPr>
          <a:xfrm>
            <a:off x="822960" y="3877056"/>
            <a:ext cx="5349240" cy="237744"/>
          </a:xfrm>
          <a:prstGeom prst="rect">
            <a:avLst/>
          </a:prstGeom>
          <a:noFill/>
          <a:ln/>
        </p:spPr>
        <p:txBody>
          <a:bodyPr wrap="square" lIns="0" tIns="0" rIns="0" bIns="0" rtlCol="0" anchor="ctr"/>
          <a:lstStyle/>
          <a:p>
            <a:pPr indent="0" marL="0">
              <a:buNone/>
            </a:pPr>
            <a:r>
              <a:rPr lang="en-US" sz="950" u="sng" dirty="0">
                <a:solidFill>
                  <a:srgbClr val="3D89FF"/>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youtube.com/watch?v=S_oN3vlzpMw</a:t>
            </a:r>
            <a:endParaRPr lang="en-US" sz="950" dirty="0"/>
          </a:p>
        </p:txBody>
      </p:sp>
      <p:sp>
        <p:nvSpPr>
          <p:cNvPr id="14" name="Shape 12"/>
          <p:cNvSpPr/>
          <p:nvPr/>
        </p:nvSpPr>
        <p:spPr>
          <a:xfrm>
            <a:off x="548640" y="4315968"/>
            <a:ext cx="128016" cy="128016"/>
          </a:xfrm>
          <a:prstGeom prst="ellipse">
            <a:avLst/>
          </a:prstGeom>
          <a:solidFill>
            <a:srgbClr val="0064FF"/>
          </a:solidFill>
          <a:ln/>
        </p:spPr>
      </p:sp>
      <p:sp>
        <p:nvSpPr>
          <p:cNvPr id="15" name="Text 13"/>
          <p:cNvSpPr/>
          <p:nvPr/>
        </p:nvSpPr>
        <p:spPr>
          <a:xfrm>
            <a:off x="822960" y="4224528"/>
            <a:ext cx="534924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BettaTech / Martín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¿Qué es esto del Harness Engineering?</a:t>
            </a:r>
            <a:endParaRPr lang="en-US" sz="1200" dirty="0"/>
          </a:p>
        </p:txBody>
      </p:sp>
      <p:sp>
        <p:nvSpPr>
          <p:cNvPr id="16" name="Text 14">
            <a:hlinkClick r:id="rId4" tooltip=""/>
          </p:cNvPr>
          <p:cNvSpPr/>
          <p:nvPr/>
        </p:nvSpPr>
        <p:spPr>
          <a:xfrm>
            <a:off x="822960" y="4553712"/>
            <a:ext cx="5349240" cy="237744"/>
          </a:xfrm>
          <a:prstGeom prst="rect">
            <a:avLst/>
          </a:prstGeom>
          <a:noFill/>
          <a:ln/>
        </p:spPr>
        <p:txBody>
          <a:bodyPr wrap="square" lIns="0" tIns="0" rIns="0" bIns="0" rtlCol="0" anchor="ctr"/>
          <a:lstStyle/>
          <a:p>
            <a:pPr indent="0" marL="0">
              <a:buNone/>
            </a:pPr>
            <a:r>
              <a:rPr lang="en-US" sz="950" u="sng" dirty="0">
                <a:solidFill>
                  <a:srgbClr val="3D89F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youtube.com/watch?v=q9Vaoz0hd0U</a:t>
            </a:r>
            <a:endParaRPr lang="en-US" sz="950" dirty="0"/>
          </a:p>
        </p:txBody>
      </p:sp>
      <p:sp>
        <p:nvSpPr>
          <p:cNvPr id="17" name="Shape 15"/>
          <p:cNvSpPr/>
          <p:nvPr/>
        </p:nvSpPr>
        <p:spPr>
          <a:xfrm>
            <a:off x="548640" y="4992624"/>
            <a:ext cx="128016" cy="128016"/>
          </a:xfrm>
          <a:prstGeom prst="ellipse">
            <a:avLst/>
          </a:prstGeom>
          <a:solidFill>
            <a:srgbClr val="BD2EFF"/>
          </a:solidFill>
          <a:ln/>
        </p:spPr>
      </p:sp>
      <p:sp>
        <p:nvSpPr>
          <p:cNvPr id="18" name="Text 16"/>
          <p:cNvSpPr/>
          <p:nvPr/>
        </p:nvSpPr>
        <p:spPr>
          <a:xfrm>
            <a:off x="822960" y="4901184"/>
            <a:ext cx="534924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Sean Grove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The New Code — AI Engineer World's Fair</a:t>
            </a:r>
            <a:endParaRPr lang="en-US" sz="1200" dirty="0"/>
          </a:p>
        </p:txBody>
      </p:sp>
      <p:sp>
        <p:nvSpPr>
          <p:cNvPr id="19" name="Text 17">
            <a:hlinkClick r:id="rId5" tooltip=""/>
          </p:cNvPr>
          <p:cNvSpPr/>
          <p:nvPr/>
        </p:nvSpPr>
        <p:spPr>
          <a:xfrm>
            <a:off x="822960" y="5230368"/>
            <a:ext cx="5349240" cy="237744"/>
          </a:xfrm>
          <a:prstGeom prst="rect">
            <a:avLst/>
          </a:prstGeom>
          <a:noFill/>
          <a:ln/>
        </p:spPr>
        <p:txBody>
          <a:bodyPr wrap="square" lIns="0" tIns="0" rIns="0" bIns="0" rtlCol="0" anchor="ctr"/>
          <a:lstStyle/>
          <a:p>
            <a:pPr indent="0" marL="0">
              <a:buNone/>
            </a:pPr>
            <a:r>
              <a:rPr lang="en-US" sz="950" u="sng" dirty="0">
                <a:solidFill>
                  <a:srgbClr val="3D89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youtube.com/watch?v=8rABwKRsec4</a:t>
            </a:r>
            <a:endParaRPr lang="en-US" sz="950" dirty="0"/>
          </a:p>
        </p:txBody>
      </p:sp>
      <p:sp>
        <p:nvSpPr>
          <p:cNvPr id="20" name="Shape 18"/>
          <p:cNvSpPr/>
          <p:nvPr/>
        </p:nvSpPr>
        <p:spPr>
          <a:xfrm>
            <a:off x="548640" y="5669280"/>
            <a:ext cx="128016" cy="128016"/>
          </a:xfrm>
          <a:prstGeom prst="ellipse">
            <a:avLst/>
          </a:prstGeom>
          <a:solidFill>
            <a:srgbClr val="FF7828"/>
          </a:solidFill>
          <a:ln/>
        </p:spPr>
      </p:sp>
      <p:sp>
        <p:nvSpPr>
          <p:cNvPr id="21" name="Text 19"/>
          <p:cNvSpPr/>
          <p:nvPr/>
        </p:nvSpPr>
        <p:spPr>
          <a:xfrm>
            <a:off x="822960" y="5577840"/>
            <a:ext cx="534924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Dex Horthy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No Vibes Allowed / Advanced Context Engineering</a:t>
            </a:r>
            <a:endParaRPr lang="en-US" sz="1200" dirty="0"/>
          </a:p>
        </p:txBody>
      </p:sp>
      <p:sp>
        <p:nvSpPr>
          <p:cNvPr id="22" name="Text 20">
            <a:hlinkClick r:id="rId6" tooltip=""/>
          </p:cNvPr>
          <p:cNvSpPr/>
          <p:nvPr/>
        </p:nvSpPr>
        <p:spPr>
          <a:xfrm>
            <a:off x="822960" y="5907024"/>
            <a:ext cx="5349240" cy="237744"/>
          </a:xfrm>
          <a:prstGeom prst="rect">
            <a:avLst/>
          </a:prstGeom>
          <a:noFill/>
          <a:ln/>
        </p:spPr>
        <p:txBody>
          <a:bodyPr wrap="square" lIns="0" tIns="0" rIns="0" bIns="0" rtlCol="0" anchor="ctr"/>
          <a:lstStyle/>
          <a:p>
            <a:pPr indent="0" marL="0">
              <a:buNone/>
            </a:pPr>
            <a:r>
              <a:rPr lang="en-US" sz="950" u="sng" dirty="0">
                <a:solidFill>
                  <a:srgbClr val="3D89F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youtube.com/watch?v=rmvDxxNubIg</a:t>
            </a:r>
            <a:endParaRPr lang="en-US" sz="950" dirty="0"/>
          </a:p>
        </p:txBody>
      </p:sp>
      <p:sp>
        <p:nvSpPr>
          <p:cNvPr id="23" name="Text 21"/>
          <p:cNvSpPr/>
          <p:nvPr/>
        </p:nvSpPr>
        <p:spPr>
          <a:xfrm>
            <a:off x="6355080" y="1783080"/>
            <a:ext cx="5486400" cy="320040"/>
          </a:xfrm>
          <a:prstGeom prst="rect">
            <a:avLst/>
          </a:prstGeom>
          <a:noFill/>
          <a:ln/>
        </p:spPr>
        <p:txBody>
          <a:bodyPr wrap="square" lIns="0" tIns="0" rIns="0" bIns="0" rtlCol="0" anchor="ctr"/>
          <a:lstStyle/>
          <a:p>
            <a:pPr indent="0" marL="0">
              <a:buNone/>
            </a:pPr>
            <a:r>
              <a:rPr lang="en-US" sz="1200" b="1" spc="150" kern="0" dirty="0">
                <a:solidFill>
                  <a:srgbClr val="FE9353"/>
                </a:solidFill>
                <a:latin typeface="Arial" pitchFamily="34" charset="0"/>
                <a:ea typeface="Arial" pitchFamily="34" charset="-122"/>
                <a:cs typeface="Arial" pitchFamily="34" charset="-120"/>
              </a:rPr>
              <a:t>ARTICLES  &amp;  DOCS</a:t>
            </a:r>
            <a:endParaRPr lang="en-US" sz="1200" dirty="0"/>
          </a:p>
        </p:txBody>
      </p:sp>
      <p:sp>
        <p:nvSpPr>
          <p:cNvPr id="24" name="Shape 22"/>
          <p:cNvSpPr/>
          <p:nvPr/>
        </p:nvSpPr>
        <p:spPr>
          <a:xfrm>
            <a:off x="6355080" y="2286000"/>
            <a:ext cx="128016" cy="128016"/>
          </a:xfrm>
          <a:prstGeom prst="ellipse">
            <a:avLst/>
          </a:prstGeom>
          <a:solidFill>
            <a:srgbClr val="0064FF"/>
          </a:solidFill>
          <a:ln/>
        </p:spPr>
      </p:sp>
      <p:sp>
        <p:nvSpPr>
          <p:cNvPr id="25" name="Text 23"/>
          <p:cNvSpPr/>
          <p:nvPr/>
        </p:nvSpPr>
        <p:spPr>
          <a:xfrm>
            <a:off x="6629400" y="2194560"/>
            <a:ext cx="498348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Anthropic Engineering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Effective context engineering for AI agents</a:t>
            </a:r>
            <a:endParaRPr lang="en-US" sz="1200" dirty="0"/>
          </a:p>
        </p:txBody>
      </p:sp>
      <p:sp>
        <p:nvSpPr>
          <p:cNvPr id="26" name="Text 24">
            <a:hlinkClick r:id="rId7" tooltip=""/>
          </p:cNvPr>
          <p:cNvSpPr/>
          <p:nvPr/>
        </p:nvSpPr>
        <p:spPr>
          <a:xfrm>
            <a:off x="6629400" y="2523744"/>
            <a:ext cx="4983480" cy="237744"/>
          </a:xfrm>
          <a:prstGeom prst="rect">
            <a:avLst/>
          </a:prstGeom>
          <a:noFill/>
          <a:ln/>
        </p:spPr>
        <p:txBody>
          <a:bodyPr wrap="square" lIns="0" tIns="0" rIns="0" bIns="0" rtlCol="0" anchor="ctr"/>
          <a:lstStyle/>
          <a:p>
            <a:pPr indent="0" marL="0">
              <a:buNone/>
            </a:pPr>
            <a:r>
              <a:rPr lang="en-US" sz="900" u="sng" dirty="0">
                <a:solidFill>
                  <a:srgbClr val="3D89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www.anthropic.com/engineering/effective-context-engineering-for-ai-agents</a:t>
            </a:r>
            <a:endParaRPr lang="en-US" sz="900" dirty="0"/>
          </a:p>
        </p:txBody>
      </p:sp>
      <p:sp>
        <p:nvSpPr>
          <p:cNvPr id="27" name="Shape 25"/>
          <p:cNvSpPr/>
          <p:nvPr/>
        </p:nvSpPr>
        <p:spPr>
          <a:xfrm>
            <a:off x="6355080" y="2962656"/>
            <a:ext cx="128016" cy="128016"/>
          </a:xfrm>
          <a:prstGeom prst="ellipse">
            <a:avLst/>
          </a:prstGeom>
          <a:solidFill>
            <a:srgbClr val="BD2EFF"/>
          </a:solidFill>
          <a:ln/>
        </p:spPr>
      </p:sp>
      <p:sp>
        <p:nvSpPr>
          <p:cNvPr id="28" name="Text 26"/>
          <p:cNvSpPr/>
          <p:nvPr/>
        </p:nvSpPr>
        <p:spPr>
          <a:xfrm>
            <a:off x="6629400" y="2871216"/>
            <a:ext cx="498348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Anthropic Engineering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Equipping agents with Agent Skills</a:t>
            </a:r>
            <a:endParaRPr lang="en-US" sz="1200" dirty="0"/>
          </a:p>
        </p:txBody>
      </p:sp>
      <p:sp>
        <p:nvSpPr>
          <p:cNvPr id="29" name="Text 27">
            <a:hlinkClick r:id="rId8" tooltip=""/>
          </p:cNvPr>
          <p:cNvSpPr/>
          <p:nvPr/>
        </p:nvSpPr>
        <p:spPr>
          <a:xfrm>
            <a:off x="6629400" y="3200400"/>
            <a:ext cx="4983480" cy="237744"/>
          </a:xfrm>
          <a:prstGeom prst="rect">
            <a:avLst/>
          </a:prstGeom>
          <a:noFill/>
          <a:ln/>
        </p:spPr>
        <p:txBody>
          <a:bodyPr wrap="square" lIns="0" tIns="0" rIns="0" bIns="0" rtlCol="0" anchor="ctr"/>
          <a:lstStyle/>
          <a:p>
            <a:pPr indent="0" marL="0">
              <a:buNone/>
            </a:pPr>
            <a:r>
              <a:rPr lang="en-US" sz="900" u="sng" dirty="0">
                <a:solidFill>
                  <a:srgbClr val="3D89FF"/>
                </a:solidFill>
                <a:latin typeface="Arial" pitchFamily="34" charset="0"/>
                <a:ea typeface="Arial" pitchFamily="34" charset="-122"/>
                <a:cs typeface="Arial" pitchFamily="34" charset="-120"/>
                <a:hlinkClick r:id="rId8" invalidUrl="" action="" tgtFrame="" tooltip="" history="1" highlightClick="0" endSnd="0">
                  <a:extLst>
                    <a:ext uri="{A12FA001-AC4F-418D-AE19-62706E023703}">
                      <ahyp:hlinkClr xmlns:ahyp="http://schemas.microsoft.com/office/drawing/2018/hyperlinkcolor" val="tx"/>
                    </a:ext>
                  </a:extLst>
                </a:hlinkClick>
              </a:rPr>
              <a:t>www.anthropic.com/engineering/equipping-agents-for-the-real-world-with-agent-skills</a:t>
            </a:r>
            <a:endParaRPr lang="en-US" sz="900" dirty="0"/>
          </a:p>
        </p:txBody>
      </p:sp>
      <p:sp>
        <p:nvSpPr>
          <p:cNvPr id="30" name="Shape 28"/>
          <p:cNvSpPr/>
          <p:nvPr/>
        </p:nvSpPr>
        <p:spPr>
          <a:xfrm>
            <a:off x="6355080" y="3639312"/>
            <a:ext cx="128016" cy="128016"/>
          </a:xfrm>
          <a:prstGeom prst="ellipse">
            <a:avLst/>
          </a:prstGeom>
          <a:solidFill>
            <a:srgbClr val="FF7828"/>
          </a:solidFill>
          <a:ln/>
        </p:spPr>
      </p:sp>
      <p:sp>
        <p:nvSpPr>
          <p:cNvPr id="31" name="Text 29"/>
          <p:cNvSpPr/>
          <p:nvPr/>
        </p:nvSpPr>
        <p:spPr>
          <a:xfrm>
            <a:off x="6629400" y="3547872"/>
            <a:ext cx="498348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Chroma Research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Context Rot: how input tokens impact LLMs</a:t>
            </a:r>
            <a:endParaRPr lang="en-US" sz="1200" dirty="0"/>
          </a:p>
        </p:txBody>
      </p:sp>
      <p:sp>
        <p:nvSpPr>
          <p:cNvPr id="32" name="Text 30">
            <a:hlinkClick r:id="rId9" tooltip=""/>
          </p:cNvPr>
          <p:cNvSpPr/>
          <p:nvPr/>
        </p:nvSpPr>
        <p:spPr>
          <a:xfrm>
            <a:off x="6629400" y="3877056"/>
            <a:ext cx="4983480" cy="237744"/>
          </a:xfrm>
          <a:prstGeom prst="rect">
            <a:avLst/>
          </a:prstGeom>
          <a:noFill/>
          <a:ln/>
        </p:spPr>
        <p:txBody>
          <a:bodyPr wrap="square" lIns="0" tIns="0" rIns="0" bIns="0" rtlCol="0" anchor="ctr"/>
          <a:lstStyle/>
          <a:p>
            <a:pPr indent="0" marL="0">
              <a:buNone/>
            </a:pPr>
            <a:r>
              <a:rPr lang="en-US" sz="900" u="sng" dirty="0">
                <a:solidFill>
                  <a:srgbClr val="3D89FF"/>
                </a:solidFill>
                <a:latin typeface="Arial" pitchFamily="34" charset="0"/>
                <a:ea typeface="Arial" pitchFamily="34" charset="-122"/>
                <a:cs typeface="Arial" pitchFamily="34" charset="-120"/>
                <a:hlinkClick r:id="rId9" invalidUrl="" action="" tgtFrame="" tooltip="" history="1" highlightClick="0" endSnd="0">
                  <a:extLst>
                    <a:ext uri="{A12FA001-AC4F-418D-AE19-62706E023703}">
                      <ahyp:hlinkClr xmlns:ahyp="http://schemas.microsoft.com/office/drawing/2018/hyperlinkcolor" val="tx"/>
                    </a:ext>
                  </a:extLst>
                </a:hlinkClick>
              </a:rPr>
              <a:t>www.trychroma.com/research/context-rot</a:t>
            </a:r>
            <a:endParaRPr lang="en-US" sz="900" dirty="0"/>
          </a:p>
        </p:txBody>
      </p:sp>
      <p:sp>
        <p:nvSpPr>
          <p:cNvPr id="33" name="Shape 31"/>
          <p:cNvSpPr/>
          <p:nvPr/>
        </p:nvSpPr>
        <p:spPr>
          <a:xfrm>
            <a:off x="6355080" y="4315968"/>
            <a:ext cx="128016" cy="128016"/>
          </a:xfrm>
          <a:prstGeom prst="ellipse">
            <a:avLst/>
          </a:prstGeom>
          <a:solidFill>
            <a:srgbClr val="0064FF"/>
          </a:solidFill>
          <a:ln/>
        </p:spPr>
      </p:sp>
      <p:sp>
        <p:nvSpPr>
          <p:cNvPr id="34" name="Text 32"/>
          <p:cNvSpPr/>
          <p:nvPr/>
        </p:nvSpPr>
        <p:spPr>
          <a:xfrm>
            <a:off x="6629400" y="4224528"/>
            <a:ext cx="4983480" cy="329184"/>
          </a:xfrm>
          <a:prstGeom prst="rect">
            <a:avLst/>
          </a:prstGeom>
          <a:noFill/>
          <a:ln/>
        </p:spPr>
        <p:txBody>
          <a:bodyPr wrap="square" lIns="0" tIns="0" rIns="0" bIns="0" rtlCol="0" anchor="t"/>
          <a:lstStyle/>
          <a:p>
            <a:pPr indent="0" marL="0">
              <a:lnSpc>
                <a:spcPct val="100000"/>
              </a:lnSpc>
              <a:buNone/>
            </a:pPr>
            <a:r>
              <a:rPr lang="en-US" sz="1200" b="1" dirty="0">
                <a:solidFill>
                  <a:srgbClr val="FFFFFF"/>
                </a:solidFill>
                <a:latin typeface="Arial" pitchFamily="34" charset="0"/>
                <a:ea typeface="Arial" pitchFamily="34" charset="-122"/>
                <a:cs typeface="Arial" pitchFamily="34" charset="-120"/>
              </a:rPr>
              <a:t>Rajiv Shah  </a:t>
            </a:r>
            <a:pPr indent="0" marL="0">
              <a:lnSpc>
                <a:spcPct val="100000"/>
              </a:lnSpc>
              <a:buNone/>
            </a:pPr>
            <a:r>
              <a:rPr lang="en-US" sz="1200" dirty="0">
                <a:solidFill>
                  <a:srgbClr val="B9B9C6"/>
                </a:solidFill>
                <a:latin typeface="Arial" pitchFamily="34" charset="0"/>
                <a:ea typeface="Arial" pitchFamily="34" charset="-122"/>
                <a:cs typeface="Arial" pitchFamily="34" charset="-120"/>
              </a:rPr>
              <a:t>Harness Engineering: the system around the model</a:t>
            </a:r>
            <a:endParaRPr lang="en-US" sz="1200" dirty="0"/>
          </a:p>
        </p:txBody>
      </p:sp>
      <p:sp>
        <p:nvSpPr>
          <p:cNvPr id="35" name="Text 33">
            <a:hlinkClick r:id="rId10" tooltip=""/>
          </p:cNvPr>
          <p:cNvSpPr/>
          <p:nvPr/>
        </p:nvSpPr>
        <p:spPr>
          <a:xfrm>
            <a:off x="6629400" y="4553712"/>
            <a:ext cx="4983480" cy="237744"/>
          </a:xfrm>
          <a:prstGeom prst="rect">
            <a:avLst/>
          </a:prstGeom>
          <a:noFill/>
          <a:ln/>
        </p:spPr>
        <p:txBody>
          <a:bodyPr wrap="square" lIns="0" tIns="0" rIns="0" bIns="0" rtlCol="0" anchor="ctr"/>
          <a:lstStyle/>
          <a:p>
            <a:pPr indent="0" marL="0">
              <a:buNone/>
            </a:pPr>
            <a:r>
              <a:rPr lang="en-US" sz="900" u="sng" dirty="0">
                <a:solidFill>
                  <a:srgbClr val="3D89FF"/>
                </a:solidFill>
                <a:latin typeface="Arial" pitchFamily="34" charset="0"/>
                <a:ea typeface="Arial" pitchFamily="34" charset="-122"/>
                <a:cs typeface="Arial" pitchFamily="34" charset="-120"/>
                <a:hlinkClick r:id="rId10" invalidUrl="" action="" tgtFrame="" tooltip="" history="1" highlightClick="0" endSnd="0">
                  <a:extLst>
                    <a:ext uri="{A12FA001-AC4F-418D-AE19-62706E023703}">
                      <ahyp:hlinkClr xmlns:ahyp="http://schemas.microsoft.com/office/drawing/2018/hyperlinkcolor" val="tx"/>
                    </a:ext>
                  </a:extLst>
                </a:hlinkClick>
              </a:rPr>
              <a:t>rajivshah.com/blog/harness-engineering.html</a:t>
            </a:r>
            <a:endParaRPr lang="en-US" sz="900" dirty="0"/>
          </a:p>
        </p:txBody>
      </p:sp>
      <p:sp>
        <p:nvSpPr>
          <p:cNvPr id="36" name="Shape 34"/>
          <p:cNvSpPr/>
          <p:nvPr/>
        </p:nvSpPr>
        <p:spPr>
          <a:xfrm>
            <a:off x="6355080" y="5074920"/>
            <a:ext cx="5285232" cy="914400"/>
          </a:xfrm>
          <a:prstGeom prst="roundRect">
            <a:avLst>
              <a:gd name="adj" fmla="val 6000"/>
            </a:avLst>
          </a:prstGeom>
          <a:solidFill>
            <a:srgbClr val="222229"/>
          </a:solidFill>
          <a:ln w="12700">
            <a:solidFill>
              <a:srgbClr val="2B2B34"/>
            </a:solidFill>
            <a:prstDash val="solid"/>
          </a:ln>
        </p:spPr>
      </p:sp>
      <p:sp>
        <p:nvSpPr>
          <p:cNvPr id="37" name="Text 35"/>
          <p:cNvSpPr/>
          <p:nvPr/>
        </p:nvSpPr>
        <p:spPr>
          <a:xfrm>
            <a:off x="6583680" y="5212080"/>
            <a:ext cx="4846320" cy="640080"/>
          </a:xfrm>
          <a:prstGeom prst="rect">
            <a:avLst/>
          </a:prstGeom>
          <a:noFill/>
          <a:ln/>
        </p:spPr>
        <p:txBody>
          <a:bodyPr wrap="square" lIns="0" tIns="0" rIns="0" bIns="0" rtlCol="0" anchor="t"/>
          <a:lstStyle/>
          <a:p>
            <a:pPr indent="0" marL="0">
              <a:lnSpc>
                <a:spcPct val="105000"/>
              </a:lnSpc>
              <a:buNone/>
            </a:pPr>
            <a:r>
              <a:rPr lang="en-US" sz="1100" b="1" dirty="0">
                <a:solidFill>
                  <a:srgbClr val="00DD81"/>
                </a:solidFill>
                <a:latin typeface="Arial" pitchFamily="34" charset="0"/>
                <a:ea typeface="Arial" pitchFamily="34" charset="-122"/>
                <a:cs typeface="Arial" pitchFamily="34" charset="-120"/>
              </a:rPr>
              <a:t>Internal evidence   </a:t>
            </a:r>
            <a:pPr indent="0" marL="0">
              <a:lnSpc>
                <a:spcPct val="105000"/>
              </a:lnSpc>
              <a:buNone/>
            </a:pPr>
            <a:r>
              <a:rPr lang="en-US" sz="1100" dirty="0">
                <a:solidFill>
                  <a:srgbClr val="B9B9C6"/>
                </a:solidFill>
                <a:latin typeface="Arial" pitchFamily="34" charset="0"/>
                <a:ea typeface="Arial" pitchFamily="34" charset="-122"/>
                <a:cs typeface="Arial" pitchFamily="34" charset="-120"/>
              </a:rPr>
              <a:t>Canonical grade cohort · run 20260601-120739 · module-principles.md · AI-axis NC framework (KB002).</a:t>
            </a:r>
            <a:endParaRPr lang="en-US" sz="1100" dirty="0"/>
          </a:p>
        </p:txBody>
      </p:sp>
      <p:sp>
        <p:nvSpPr>
          <p:cNvPr id="38" name="Text 36"/>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8A8A99"/>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
        <p:nvSpPr>
          <p:cNvPr id="39" name="Text 37"/>
          <p:cNvSpPr/>
          <p:nvPr/>
        </p:nvSpPr>
        <p:spPr>
          <a:xfrm>
            <a:off x="3351276" y="6355080"/>
            <a:ext cx="5486400" cy="320040"/>
          </a:xfrm>
          <a:prstGeom prst="rect">
            <a:avLst/>
          </a:prstGeom>
          <a:noFill/>
          <a:ln/>
        </p:spPr>
        <p:txBody>
          <a:bodyPr wrap="square" lIns="0" tIns="0" rIns="0" bIns="0" rtlCol="0" anchor="ctr"/>
          <a:lstStyle/>
          <a:p>
            <a:pPr algn="ctr" indent="0" marL="0">
              <a:buNone/>
            </a:pPr>
            <a:r>
              <a:rPr lang="en-US" sz="950" spc="100" kern="0" dirty="0">
                <a:solidFill>
                  <a:srgbClr val="8A8A99"/>
                </a:solidFill>
                <a:latin typeface="Arial" pitchFamily="34" charset="0"/>
                <a:ea typeface="Arial" pitchFamily="34" charset="-122"/>
                <a:cs typeface="Arial" pitchFamily="34" charset="-120"/>
              </a:rPr>
              <a:t>Module 3 · Domain Knowledge</a:t>
            </a:r>
            <a:endParaRPr lang="en-US" sz="950" dirty="0"/>
          </a:p>
        </p:txBody>
      </p:sp>
      <p:sp>
        <p:nvSpPr>
          <p:cNvPr id="40" name="Text 38"/>
          <p:cNvSpPr/>
          <p:nvPr/>
        </p:nvSpPr>
        <p:spPr>
          <a:xfrm>
            <a:off x="11183112" y="6355080"/>
            <a:ext cx="502920" cy="320040"/>
          </a:xfrm>
          <a:prstGeom prst="rect">
            <a:avLst/>
          </a:prstGeom>
          <a:noFill/>
          <a:ln/>
        </p:spPr>
        <p:txBody>
          <a:bodyPr wrap="square" lIns="0" tIns="0" rIns="0" bIns="0" rtlCol="0" anchor="ctr"/>
          <a:lstStyle/>
          <a:p>
            <a:pPr algn="r" indent="0" marL="0">
              <a:buNone/>
            </a:pPr>
            <a:r>
              <a:rPr lang="en-US" sz="1100" dirty="0">
                <a:solidFill>
                  <a:srgbClr val="8A8A99"/>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B24"/>
        </a:solidFill>
      </p:bgPr>
    </p:bg>
    <p:spTree>
      <p:nvGrpSpPr>
        <p:cNvPr id="1" name=""/>
        <p:cNvGrpSpPr/>
        <p:nvPr/>
      </p:nvGrpSpPr>
      <p:grpSpPr>
        <a:xfrm>
          <a:off x="0" y="0"/>
          <a:ext cx="0" cy="0"/>
          <a:chOff x="0" y="0"/>
          <a:chExt cx="0" cy="0"/>
        </a:xfrm>
      </p:grpSpPr>
      <p:sp>
        <p:nvSpPr>
          <p:cNvPr id="2" name="Shape 0"/>
          <p:cNvSpPr/>
          <p:nvPr/>
        </p:nvSpPr>
        <p:spPr>
          <a:xfrm>
            <a:off x="-731520" y="4663440"/>
            <a:ext cx="2743200" cy="2743200"/>
          </a:xfrm>
          <a:prstGeom prst="ellipse">
            <a:avLst/>
          </a:prstGeom>
          <a:solidFill>
            <a:srgbClr val="0064FF">
              <a:alpha val="18000"/>
            </a:srgbClr>
          </a:solidFill>
          <a:ln/>
        </p:spPr>
      </p:sp>
      <p:sp>
        <p:nvSpPr>
          <p:cNvPr id="3" name="Text 1"/>
          <p:cNvSpPr/>
          <p:nvPr/>
        </p:nvSpPr>
        <p:spPr>
          <a:xfrm>
            <a:off x="822960" y="1463040"/>
            <a:ext cx="10058400" cy="365760"/>
          </a:xfrm>
          <a:prstGeom prst="rect">
            <a:avLst/>
          </a:prstGeom>
          <a:noFill/>
          <a:ln/>
        </p:spPr>
        <p:txBody>
          <a:bodyPr wrap="square" lIns="0" tIns="0" rIns="0" bIns="0" rtlCol="0" anchor="ctr"/>
          <a:lstStyle/>
          <a:p>
            <a:pPr indent="0" marL="0">
              <a:buNone/>
            </a:pPr>
            <a:r>
              <a:rPr lang="en-US" sz="1300" b="1" spc="300" kern="0" dirty="0">
                <a:solidFill>
                  <a:srgbClr val="3D89FF"/>
                </a:solidFill>
                <a:latin typeface="Arial" pitchFamily="34" charset="0"/>
                <a:ea typeface="Arial" pitchFamily="34" charset="-122"/>
                <a:cs typeface="Arial" pitchFamily="34" charset="-120"/>
              </a:rPr>
              <a:t>THE ONE-SLIDE SUMMARY</a:t>
            </a:r>
            <a:endParaRPr lang="en-US" sz="1300" dirty="0"/>
          </a:p>
        </p:txBody>
      </p:sp>
      <p:sp>
        <p:nvSpPr>
          <p:cNvPr id="4" name="Text 2"/>
          <p:cNvSpPr/>
          <p:nvPr/>
        </p:nvSpPr>
        <p:spPr>
          <a:xfrm>
            <a:off x="822960" y="2057400"/>
            <a:ext cx="10515600" cy="2743200"/>
          </a:xfrm>
          <a:prstGeom prst="rect">
            <a:avLst/>
          </a:prstGeom>
          <a:noFill/>
          <a:ln/>
        </p:spPr>
        <p:txBody>
          <a:bodyPr wrap="square" lIns="0" tIns="0" rIns="0" bIns="0" rtlCol="0" anchor="t"/>
          <a:lstStyle/>
          <a:p>
            <a:pPr indent="0" marL="0">
              <a:lnSpc>
                <a:spcPct val="112000"/>
              </a:lnSpc>
              <a:buNone/>
            </a:pPr>
            <a:r>
              <a:rPr lang="en-US" sz="3000" dirty="0">
                <a:solidFill>
                  <a:srgbClr val="B9B9C6"/>
                </a:solidFill>
                <a:latin typeface="Arial" pitchFamily="34" charset="0"/>
                <a:ea typeface="Arial" pitchFamily="34" charset="-122"/>
                <a:cs typeface="Arial" pitchFamily="34" charset="-120"/>
              </a:rPr>
              <a:t>The model finds the obvious answer on its own. </a:t>
            </a:r>
            <a:pPr indent="0" marL="0">
              <a:lnSpc>
                <a:spcPct val="112000"/>
              </a:lnSpc>
              <a:buNone/>
            </a:pPr>
            <a:r>
              <a:rPr lang="en-US" sz="3000" b="1" dirty="0">
                <a:solidFill>
                  <a:srgbClr val="CA5FFF"/>
                </a:solidFill>
                <a:latin typeface="Arial" pitchFamily="34" charset="0"/>
                <a:ea typeface="Arial" pitchFamily="34" charset="-122"/>
                <a:cs typeface="Arial" pitchFamily="34" charset="-120"/>
              </a:rPr>
              <a:t>Skills make it find that answer reliably, every time. </a:t>
            </a:r>
            <a:pPr indent="0" marL="0">
              <a:lnSpc>
                <a:spcPct val="112000"/>
              </a:lnSpc>
              <a:buNone/>
            </a:pPr>
            <a:r>
              <a:rPr lang="en-US" sz="3000" b="1" dirty="0">
                <a:solidFill>
                  <a:srgbClr val="FFFFFF"/>
                </a:solidFill>
                <a:latin typeface="Arial" pitchFamily="34" charset="0"/>
                <a:ea typeface="Arial" pitchFamily="34" charset="-122"/>
                <a:cs typeface="Arial" pitchFamily="34" charset="-120"/>
              </a:rPr>
              <a:t>Domain knowledge tells it the non-obvious answer experts paid for in scar tissue — </a:t>
            </a:r>
            <a:pPr indent="0" marL="0">
              <a:lnSpc>
                <a:spcPct val="112000"/>
              </a:lnSpc>
              <a:buNone/>
            </a:pPr>
            <a:r>
              <a:rPr lang="en-US" sz="3000" b="1" dirty="0">
                <a:solidFill>
                  <a:srgbClr val="FE9353"/>
                </a:solidFill>
                <a:latin typeface="Arial" pitchFamily="34" charset="0"/>
                <a:ea typeface="Arial" pitchFamily="34" charset="-122"/>
                <a:cs typeface="Arial" pitchFamily="34" charset="-120"/>
              </a:rPr>
              <a:t>and the whole cohort converges on it.</a:t>
            </a:r>
            <a:endParaRPr lang="en-US" sz="3000" dirty="0"/>
          </a:p>
        </p:txBody>
      </p:sp>
      <p:sp>
        <p:nvSpPr>
          <p:cNvPr id="5" name="Text 3"/>
          <p:cNvSpPr/>
          <p:nvPr/>
        </p:nvSpPr>
        <p:spPr>
          <a:xfrm>
            <a:off x="822960" y="5029200"/>
            <a:ext cx="10515600" cy="548640"/>
          </a:xfrm>
          <a:prstGeom prst="rect">
            <a:avLst/>
          </a:prstGeom>
          <a:noFill/>
          <a:ln/>
        </p:spPr>
        <p:txBody>
          <a:bodyPr wrap="square" lIns="0" tIns="0" rIns="0" bIns="0" rtlCol="0" anchor="ctr"/>
          <a:lstStyle/>
          <a:p>
            <a:pPr indent="0" marL="0">
              <a:buNone/>
            </a:pPr>
            <a:r>
              <a:rPr lang="en-US" sz="1700" i="1" dirty="0">
                <a:solidFill>
                  <a:srgbClr val="B9B9C6"/>
                </a:solidFill>
                <a:latin typeface="Arial" pitchFamily="34" charset="0"/>
                <a:ea typeface="Arial" pitchFamily="34" charset="-122"/>
                <a:cs typeface="Arial" pitchFamily="34" charset="-120"/>
              </a:rPr>
              <a:t>Same model throughout. Everything that moved was the harness.</a:t>
            </a:r>
            <a:endParaRPr lang="en-US" sz="1700" dirty="0"/>
          </a:p>
        </p:txBody>
      </p:sp>
      <p:sp>
        <p:nvSpPr>
          <p:cNvPr id="6" name="Text 4"/>
          <p:cNvSpPr/>
          <p:nvPr/>
        </p:nvSpPr>
        <p:spPr>
          <a:xfrm>
            <a:off x="502920" y="6355080"/>
            <a:ext cx="1097280" cy="320040"/>
          </a:xfrm>
          <a:prstGeom prst="rect">
            <a:avLst/>
          </a:prstGeom>
          <a:noFill/>
          <a:ln/>
        </p:spPr>
        <p:txBody>
          <a:bodyPr wrap="square" lIns="0" tIns="0" rIns="0" bIns="0" rtlCol="0" anchor="ctr"/>
          <a:lstStyle/>
          <a:p>
            <a:pPr algn="l" indent="0" marL="0">
              <a:buNone/>
            </a:pPr>
            <a:r>
              <a:rPr lang="en-US" sz="1600" b="1" spc="100" kern="0" dirty="0">
                <a:solidFill>
                  <a:srgbClr val="FFFFFF"/>
                </a:solidFill>
                <a:latin typeface="Arial" pitchFamily="34" charset="0"/>
                <a:ea typeface="Arial" pitchFamily="34" charset="-122"/>
                <a:cs typeface="Arial" pitchFamily="34" charset="-120"/>
              </a:rPr>
              <a:t>qui</a:t>
            </a:r>
            <a:pPr algn="l" indent="0" marL="0">
              <a:buNone/>
            </a:pPr>
            <a:r>
              <a:rPr lang="en-US" sz="1600" b="1" spc="100" kern="0" dirty="0">
                <a:solidFill>
                  <a:srgbClr val="0064FF"/>
                </a:solidFill>
                <a:latin typeface="Arial" pitchFamily="34" charset="0"/>
                <a:ea typeface="Arial" pitchFamily="34" charset="-122"/>
                <a:cs typeface="Arial" pitchFamily="34" charset="-120"/>
              </a:rPr>
              <a:t>x</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 Adding Domain Knowledge</dc:title>
  <dc:subject>PptxGenJS Presentation</dc:subject>
  <dc:creator>Quix</dc:creator>
  <cp:lastModifiedBy>Quix</cp:lastModifiedBy>
  <cp:revision>1</cp:revision>
  <dcterms:created xsi:type="dcterms:W3CDTF">2026-06-02T23:44:00Z</dcterms:created>
  <dcterms:modified xsi:type="dcterms:W3CDTF">2026-06-02T23:44:00Z</dcterms:modified>
</cp:coreProperties>
</file>