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011680"/>
            <a:ext cx="164592" cy="164592"/>
          </a:xfrm>
          <a:prstGeom prst="rect">
            <a:avLst/>
          </a:prstGeom>
          <a:solidFill>
            <a:srgbClr val="0064FF"/>
          </a:solidFill>
          <a:ln w="12700">
            <a:solidFill>
              <a:srgbClr val="006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15568" y="1965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50" kern="0" dirty="0">
                <a:solidFill>
                  <a:srgbClr val="0064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MODULE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22860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600" b="1" spc="-100" kern="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Skills</a:t>
            </a:r>
            <a:endParaRPr lang="en-US" sz="8600" dirty="0"/>
          </a:p>
        </p:txBody>
      </p:sp>
      <p:sp>
        <p:nvSpPr>
          <p:cNvPr id="5" name="Text 3"/>
          <p:cNvSpPr/>
          <p:nvPr/>
        </p:nvSpPr>
        <p:spPr>
          <a:xfrm>
            <a:off x="822960" y="38862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B3B4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principles that make a skill good — and the people who worked them out.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45720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7C7C8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Every principle on the following slides is tied to a primary source.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982712" y="31089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7C8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skills · references deck</a:t>
            </a:r>
            <a:endParaRPr lang="en-US" sz="10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27648"/>
            <a:ext cx="1078992" cy="32505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31520"/>
            <a:ext cx="164592" cy="164592"/>
          </a:xfrm>
          <a:prstGeom prst="rect">
            <a:avLst/>
          </a:prstGeom>
          <a:solidFill>
            <a:srgbClr val="0064FF"/>
          </a:solidFill>
          <a:ln w="12700">
            <a:solidFill>
              <a:srgbClr val="006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2688" y="685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50" kern="0" dirty="0">
                <a:solidFill>
                  <a:srgbClr val="0064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GAP SKILLS FILL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Models converged. Domain expertise didn't.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057400"/>
            <a:ext cx="5760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B3B4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Frontier models are brilliant generalists, but on real work they lack your expertise, can't absorb it well, and don't learn over time. A skill packages that expertise: procedural knowledge an agent loads only when the task needs it.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6858000" y="1828800"/>
            <a:ext cx="4709160" cy="3931920"/>
          </a:xfrm>
          <a:prstGeom prst="roundRect">
            <a:avLst>
              <a:gd name="adj" fmla="val 2326"/>
            </a:avLst>
          </a:prstGeom>
          <a:solidFill>
            <a:srgbClr val="222229"/>
          </a:solidFill>
          <a:ln w="19050">
            <a:solidFill>
              <a:srgbClr val="0064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50608" y="2121408"/>
            <a:ext cx="749808" cy="749808"/>
          </a:xfrm>
          <a:prstGeom prst="ellipse">
            <a:avLst/>
          </a:prstGeom>
          <a:solidFill>
            <a:srgbClr val="0064FF"/>
          </a:solidFill>
          <a:ln w="12700">
            <a:solidFill>
              <a:srgbClr val="006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50608" y="2121408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BZ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156448" y="2139696"/>
            <a:ext cx="3118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Barry Zhang &amp; Mahesh Murag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56448" y="2487168"/>
            <a:ext cx="3118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3B4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Anthropic · AI Engineer Code Summit, Dec 2025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150608" y="2980944"/>
            <a:ext cx="4123944" cy="2276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“Skills are a minimal form factor for packaging procedural knowledge that agents can dynamically load. Equipping agents for real-world work means building reusable expertise.”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150608" y="5303520"/>
            <a:ext cx="4123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64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Don't Build Agents, Build Skills Instead  ·  </a:t>
            </a:r>
            <a:pPr algn="l" indent="0" marL="0">
              <a:buNone/>
            </a:pPr>
            <a:r>
              <a:rPr lang="en-US" sz="1050" dirty="0">
                <a:solidFill>
                  <a:srgbClr val="B3B4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youtube.com/watch?v=CEvIs9y1uog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982712" y="31089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7C8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reference · centerpiece</a:t>
            </a:r>
            <a:endParaRPr lang="en-US" sz="10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27648"/>
            <a:ext cx="1078992" cy="32505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31520"/>
            <a:ext cx="164592" cy="164592"/>
          </a:xfrm>
          <a:prstGeom prst="rect">
            <a:avLst/>
          </a:prstGeom>
          <a:solidFill>
            <a:srgbClr val="00DD81"/>
          </a:solidFill>
          <a:ln w="12700">
            <a:solidFill>
              <a:srgbClr val="00DD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2688" y="685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50" kern="0" dirty="0">
                <a:solidFill>
                  <a:srgbClr val="00DD8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DEFINITION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5943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skill is a folder, not a framework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5852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550" dirty="0">
                <a:solidFill>
                  <a:srgbClr val="B3B4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At its simplest a skill is a directory with one SKILL.md file: YAML metadata (name + description) on top, instructions below, optional scripts and assets alongside.</a:t>
            </a:r>
            <a:endParaRPr lang="en-US" sz="15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B3B4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No SDK, no bespoke agent code. Anthropic published it as an open standard in December 2025, which means the format is portable across tools.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858000" y="1508760"/>
            <a:ext cx="4709160" cy="4023360"/>
          </a:xfrm>
          <a:prstGeom prst="roundRect">
            <a:avLst>
              <a:gd name="adj" fmla="val 2273"/>
            </a:avLst>
          </a:prstGeom>
          <a:solidFill>
            <a:srgbClr val="222229"/>
          </a:solidFill>
          <a:ln w="19050">
            <a:solidFill>
              <a:srgbClr val="00DD81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50608" y="1801368"/>
            <a:ext cx="749808" cy="749808"/>
          </a:xfrm>
          <a:prstGeom prst="ellipse">
            <a:avLst/>
          </a:prstGeom>
          <a:solidFill>
            <a:srgbClr val="00DD81"/>
          </a:solidFill>
          <a:ln w="12700">
            <a:solidFill>
              <a:srgbClr val="00DD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50608" y="1801368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156448" y="1819656"/>
            <a:ext cx="3118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Anthropic Engineering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56448" y="2167128"/>
            <a:ext cx="3118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3B4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Equipping agents for the real world with Agent Skills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150608" y="2660904"/>
            <a:ext cx="4123944" cy="2368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“A skill is a directory that contains a SKILL.md file… agents can keep many skills on hand with only a small context footprint.”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150608" y="5074920"/>
            <a:ext cx="4123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DD8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Anthropic  ·  </a:t>
            </a:r>
            <a:pPr algn="l" indent="0" marL="0">
              <a:buNone/>
            </a:pPr>
            <a:r>
              <a:rPr lang="en-US" sz="1050" dirty="0">
                <a:solidFill>
                  <a:srgbClr val="B3B4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anthropic.com/engineering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982712" y="31089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7C8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what a skill is</a:t>
            </a:r>
            <a:endParaRPr lang="en-US" sz="10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27648"/>
            <a:ext cx="1078992" cy="32505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31520"/>
            <a:ext cx="164592" cy="164592"/>
          </a:xfrm>
          <a:prstGeom prst="rect">
            <a:avLst/>
          </a:prstGeom>
          <a:solidFill>
            <a:srgbClr val="0064FF"/>
          </a:solidFill>
          <a:ln w="12700">
            <a:solidFill>
              <a:srgbClr val="006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2688" y="685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50" kern="0" dirty="0">
                <a:solidFill>
                  <a:srgbClr val="0064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PRINCIPLE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5943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Load metadata first, the body only on demand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5852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550" dirty="0">
                <a:solidFill>
                  <a:srgbClr val="B3B4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Discovery → Activation → Execution. At startup the agent reads only each skill's name + description. It pulls the full instructions into context only when a task matches, and runs bundled code only if needed.</a:t>
            </a:r>
            <a:endParaRPr lang="en-US" sz="15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B3B4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economics: an always-on AGENTS.md costs roughly 944 tokens every turn; the same content as a skill costs about 53 — metadata only — until it's actually used.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858000" y="1508760"/>
            <a:ext cx="4709160" cy="4023360"/>
          </a:xfrm>
          <a:prstGeom prst="roundRect">
            <a:avLst>
              <a:gd name="adj" fmla="val 2273"/>
            </a:avLst>
          </a:prstGeom>
          <a:solidFill>
            <a:srgbClr val="222229"/>
          </a:solidFill>
          <a:ln w="19050">
            <a:solidFill>
              <a:srgbClr val="0064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50608" y="1801368"/>
            <a:ext cx="749808" cy="749808"/>
          </a:xfrm>
          <a:prstGeom prst="ellipse">
            <a:avLst/>
          </a:prstGeom>
          <a:solidFill>
            <a:srgbClr val="0064FF"/>
          </a:solidFill>
          <a:ln w="12700">
            <a:solidFill>
              <a:srgbClr val="006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50608" y="1801368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156448" y="1819656"/>
            <a:ext cx="3118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Anthropic Engineering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56448" y="2167128"/>
            <a:ext cx="3118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3B4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Agent Skills — core design principle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150608" y="2660904"/>
            <a:ext cx="4123944" cy="2368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“This metadata is the first level of progressive disclosure: it provides just enough information for Claude to know when each skill should be used without loading all of it into context.”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150608" y="5074920"/>
            <a:ext cx="4123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64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Anthropic  ·  </a:t>
            </a:r>
            <a:pPr algn="l" indent="0" marL="0">
              <a:buNone/>
            </a:pPr>
            <a:r>
              <a:rPr lang="en-US" sz="1050" dirty="0">
                <a:solidFill>
                  <a:srgbClr val="B3B4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anthropic.com/engineering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982712" y="31089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7C8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progressive disclosure</a:t>
            </a:r>
            <a:endParaRPr lang="en-US" sz="10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27648"/>
            <a:ext cx="1078992" cy="32505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31520"/>
            <a:ext cx="164592" cy="164592"/>
          </a:xfrm>
          <a:prstGeom prst="rect">
            <a:avLst/>
          </a:prstGeom>
          <a:solidFill>
            <a:srgbClr val="BD2EFF"/>
          </a:solidFill>
          <a:ln w="12700">
            <a:solidFill>
              <a:srgbClr val="BD2E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2688" y="685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50" kern="0" dirty="0">
                <a:solidFill>
                  <a:srgbClr val="BD2E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PRINCIPLE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5943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One universal agent, a library of skills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5852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550" dirty="0">
                <a:solidFill>
                  <a:srgbClr val="B3B4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Don't clone one agent per domain. Keep one stable agent and give it a library it can draw from — hundreds of skills, each loaded only at runtime for the task at hand.</a:t>
            </a:r>
            <a:endParaRPr lang="en-US" sz="15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B3B4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Zhang's analogy: you don't want your colleague re-deriving the 2025 tax code from first principles. You want consistent execution from a domain expert. Skills are that expert, on call.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858000" y="1508760"/>
            <a:ext cx="4709160" cy="4023360"/>
          </a:xfrm>
          <a:prstGeom prst="roundRect">
            <a:avLst>
              <a:gd name="adj" fmla="val 2273"/>
            </a:avLst>
          </a:prstGeom>
          <a:solidFill>
            <a:srgbClr val="222229"/>
          </a:solidFill>
          <a:ln w="19050">
            <a:solidFill>
              <a:srgbClr val="BD2E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50608" y="1801368"/>
            <a:ext cx="749808" cy="749808"/>
          </a:xfrm>
          <a:prstGeom prst="ellipse">
            <a:avLst/>
          </a:prstGeom>
          <a:solidFill>
            <a:srgbClr val="BD2EFF"/>
          </a:solidFill>
          <a:ln w="12700">
            <a:solidFill>
              <a:srgbClr val="BD2E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50608" y="1801368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156448" y="1819656"/>
            <a:ext cx="3118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Mahesh Murag &amp; Barry Zhang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56448" y="2167128"/>
            <a:ext cx="3118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3B4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Anthropic · AI Engineer Code Summit, Dec 2025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150608" y="2660904"/>
            <a:ext cx="4123944" cy="2368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“One agent can be given a library of hundreds or thousands of skills that it decides to pull into context only at runtime.”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150608" y="5074920"/>
            <a:ext cx="4123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D2E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Don't Build Agents, Build Skills Instead  ·  </a:t>
            </a:r>
            <a:pPr algn="l" indent="0" marL="0">
              <a:buNone/>
            </a:pPr>
            <a:r>
              <a:rPr lang="en-US" sz="1050" dirty="0">
                <a:solidFill>
                  <a:srgbClr val="B3B4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youtube.com/watch?v=CEvIs9y1uog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982712" y="31089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7C8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architecture</a:t>
            </a:r>
            <a:endParaRPr lang="en-US" sz="10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27648"/>
            <a:ext cx="1078992" cy="32505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31520"/>
            <a:ext cx="164592" cy="164592"/>
          </a:xfrm>
          <a:prstGeom prst="rect">
            <a:avLst/>
          </a:prstGeom>
          <a:solidFill>
            <a:srgbClr val="FF7828"/>
          </a:solidFill>
          <a:ln w="12700">
            <a:solidFill>
              <a:srgbClr val="FF7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2688" y="685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50" kern="0" dirty="0">
                <a:solidFill>
                  <a:srgbClr val="FF782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PRINCIPLE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5943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Judgement vs connectivity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5852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550" dirty="0">
                <a:solidFill>
                  <a:srgbClr val="B3B4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When you hit a new workflow, ask what the gap is. Connectivity — reaching a system, an API, a data store — is an MCP server's job. Judgement — the procedure, the recipe, the domain logic — is a skill's job.</a:t>
            </a:r>
            <a:endParaRPr lang="en-US" sz="15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B3B4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Most real workflows need both. Willison's point: the skill format is dramatically simpler than MCP, and progressive disclosure solves the context cost that dogged MCP in production.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858000" y="1508760"/>
            <a:ext cx="4709160" cy="4023360"/>
          </a:xfrm>
          <a:prstGeom prst="roundRect">
            <a:avLst>
              <a:gd name="adj" fmla="val 2273"/>
            </a:avLst>
          </a:prstGeom>
          <a:solidFill>
            <a:srgbClr val="222229"/>
          </a:solidFill>
          <a:ln w="19050">
            <a:solidFill>
              <a:srgbClr val="FF782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50608" y="1801368"/>
            <a:ext cx="749808" cy="749808"/>
          </a:xfrm>
          <a:prstGeom prst="ellipse">
            <a:avLst/>
          </a:prstGeom>
          <a:solidFill>
            <a:srgbClr val="FF7828"/>
          </a:solidFill>
          <a:ln w="12700">
            <a:solidFill>
              <a:srgbClr val="FF78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50608" y="1801368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SW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156448" y="1819656"/>
            <a:ext cx="3118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Simon Willison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56448" y="2167128"/>
            <a:ext cx="3118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3B4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Django co-creator · simonwillison.net, Oct 2025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150608" y="2660904"/>
            <a:ext cx="4123944" cy="2368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“Claude Skills are awesome, maybe a bigger deal than MCP.”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150608" y="5074920"/>
            <a:ext cx="4123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782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Claude Skills are awesome  ·  </a:t>
            </a:r>
            <a:pPr algn="l" indent="0" marL="0">
              <a:buNone/>
            </a:pPr>
            <a:r>
              <a:rPr lang="en-US" sz="1050" dirty="0">
                <a:solidFill>
                  <a:srgbClr val="B3B4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simonwillison.net/2025/Oct/16/claude-skills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982712" y="31089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7C8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skills vs MCP</a:t>
            </a:r>
            <a:endParaRPr lang="en-US" sz="10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27648"/>
            <a:ext cx="1078992" cy="32505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31520"/>
            <a:ext cx="164592" cy="164592"/>
          </a:xfrm>
          <a:prstGeom prst="rect">
            <a:avLst/>
          </a:prstGeom>
          <a:solidFill>
            <a:srgbClr val="0064FF"/>
          </a:solidFill>
          <a:ln w="12700">
            <a:solidFill>
              <a:srgbClr val="006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2688" y="685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50" kern="0" dirty="0">
                <a:solidFill>
                  <a:srgbClr val="0064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PRINCIPLE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5943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Write the description to be chosen, not to describe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5852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550" dirty="0">
                <a:solidFill>
                  <a:srgbClr val="B3B4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Under progressive disclosure, the metadata is the only thing the agent sees when deciding. So every skill in our Module 2 toolkit leads with a precise description, a when-to-invoke, and a when-NOT-to-invoke that names the right sibling.</a:t>
            </a:r>
            <a:endParaRPr lang="en-US" sz="15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B3B4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Tuning that routing layer — not the code — is what cut run-to-run variance in our cohort.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858000" y="1508760"/>
            <a:ext cx="4709160" cy="4023360"/>
          </a:xfrm>
          <a:prstGeom prst="roundRect">
            <a:avLst>
              <a:gd name="adj" fmla="val 2273"/>
            </a:avLst>
          </a:prstGeom>
          <a:solidFill>
            <a:srgbClr val="222229"/>
          </a:solidFill>
          <a:ln w="19050">
            <a:solidFill>
              <a:srgbClr val="0064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50608" y="1801368"/>
            <a:ext cx="749808" cy="749808"/>
          </a:xfrm>
          <a:prstGeom prst="ellipse">
            <a:avLst/>
          </a:prstGeom>
          <a:solidFill>
            <a:srgbClr val="0064FF"/>
          </a:solidFill>
          <a:ln w="12700">
            <a:solidFill>
              <a:srgbClr val="006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50608" y="1801368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Q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156448" y="1819656"/>
            <a:ext cx="3118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Quix · Module 2 toolkit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56448" y="2167128"/>
            <a:ext cx="3118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3B4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score-model / SKILL.md metadata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150608" y="2660904"/>
            <a:ext cx="4123944" cy="2368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“when-NOT-to-invoke: you want to compare two models — use compare-models; you want to optimise coefficients — use fitting-model.”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150608" y="5074920"/>
            <a:ext cx="4123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64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Our practice  ·  </a:t>
            </a:r>
            <a:pPr algn="l" indent="0" marL="0">
              <a:buNone/>
            </a:pPr>
            <a:r>
              <a:rPr lang="en-US" sz="1050" dirty="0">
                <a:solidFill>
                  <a:srgbClr val="B3B4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webinar-AI/module-2.v3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982712" y="31089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7C8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metadata is routing</a:t>
            </a:r>
            <a:endParaRPr lang="en-US" sz="10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27648"/>
            <a:ext cx="1078992" cy="32505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31520"/>
            <a:ext cx="164592" cy="164592"/>
          </a:xfrm>
          <a:prstGeom prst="rect">
            <a:avLst/>
          </a:prstGeom>
          <a:solidFill>
            <a:srgbClr val="00DD81"/>
          </a:solidFill>
          <a:ln w="12700">
            <a:solidFill>
              <a:srgbClr val="00DD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2688" y="685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50" kern="0" dirty="0">
                <a:solidFill>
                  <a:srgbClr val="00DD8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PRINCIPLE 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5943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Encode what an expert would notice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5852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550" dirty="0">
                <a:solidFill>
                  <a:srgbClr val="B3B4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good skill doesn't just run a computation — it flags what matters. Our score-model skill puts a signed-bias warning at the very top of its output, because CTE is bias-dominated and that's the thing people miss before they ship.</a:t>
            </a:r>
            <a:endParaRPr lang="en-US" sz="15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B3B4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This is why skills raise the floor: they stop the predictable mistakes before they happen.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858000" y="1508760"/>
            <a:ext cx="4709160" cy="4023360"/>
          </a:xfrm>
          <a:prstGeom prst="roundRect">
            <a:avLst>
              <a:gd name="adj" fmla="val 2273"/>
            </a:avLst>
          </a:prstGeom>
          <a:solidFill>
            <a:srgbClr val="222229"/>
          </a:solidFill>
          <a:ln w="19050">
            <a:solidFill>
              <a:srgbClr val="00DD81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50608" y="1801368"/>
            <a:ext cx="749808" cy="749808"/>
          </a:xfrm>
          <a:prstGeom prst="ellipse">
            <a:avLst/>
          </a:prstGeom>
          <a:solidFill>
            <a:srgbClr val="00DD81"/>
          </a:solidFill>
          <a:ln w="12700">
            <a:solidFill>
              <a:srgbClr val="00DD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50608" y="1801368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Q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156448" y="1819656"/>
            <a:ext cx="3118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Quix · Module 2 toolkit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56448" y="2167128"/>
            <a:ext cx="3118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3B4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score-model — bias warnings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150608" y="2660904"/>
            <a:ext cx="4123944" cy="2368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“CTE is a double-integral of yaw error — a non-zero signed bias is what kills it, not the per-sample noise floor. Look at this before you ship.”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150608" y="5074920"/>
            <a:ext cx="4123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DD8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Our practice  ·  </a:t>
            </a:r>
            <a:pPr algn="l" indent="0" marL="0">
              <a:buNone/>
            </a:pPr>
            <a:r>
              <a:rPr lang="en-US" sz="1050" dirty="0">
                <a:solidFill>
                  <a:srgbClr val="B3B4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webinar-AI/module-2.v3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982712" y="31089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7C8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encode judgement</a:t>
            </a:r>
            <a:endParaRPr lang="en-US" sz="10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27648"/>
            <a:ext cx="1078992" cy="32505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31520"/>
            <a:ext cx="164592" cy="164592"/>
          </a:xfrm>
          <a:prstGeom prst="rect">
            <a:avLst/>
          </a:prstGeom>
          <a:solidFill>
            <a:srgbClr val="BD2EFF"/>
          </a:solidFill>
          <a:ln w="12700">
            <a:solidFill>
              <a:srgbClr val="BD2E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2688" y="685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50" kern="0" dirty="0">
                <a:solidFill>
                  <a:srgbClr val="BD2E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PRINCIPLE 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5943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Walk the workflow, then crystallise it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5852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550" dirty="0">
                <a:solidFill>
                  <a:srgbClr val="B3B4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reliable way to author a skill: drive the agent through the task manually, correcting in real time. Only after one clean end-to-end run, ask it to crystallise the run into a SKILL.md. Then run it on new cases and feed failures back.</a:t>
            </a:r>
            <a:endParaRPr lang="en-US" sz="15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B3B4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About five iterations to production-reliable. A domain expert can run the first two steps — an engineer isn't in the critical path.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858000" y="1508760"/>
            <a:ext cx="4709160" cy="4023360"/>
          </a:xfrm>
          <a:prstGeom prst="roundRect">
            <a:avLst>
              <a:gd name="adj" fmla="val 2273"/>
            </a:avLst>
          </a:prstGeom>
          <a:solidFill>
            <a:srgbClr val="222229"/>
          </a:solidFill>
          <a:ln w="19050">
            <a:solidFill>
              <a:srgbClr val="BD2E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50608" y="1801368"/>
            <a:ext cx="749808" cy="749808"/>
          </a:xfrm>
          <a:prstGeom prst="ellipse">
            <a:avLst/>
          </a:prstGeom>
          <a:solidFill>
            <a:srgbClr val="BD2EFF"/>
          </a:solidFill>
          <a:ln w="12700">
            <a:solidFill>
              <a:srgbClr val="BD2E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50608" y="1801368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156448" y="1819656"/>
            <a:ext cx="3118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Michael Shimeles (Ras Mic)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56448" y="2167128"/>
            <a:ext cx="3118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3B4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Fabrika · Startup Ideas Podcast, 2026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150608" y="2660904"/>
            <a:ext cx="4123944" cy="2368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“The differentiator isn't the model anymore — it's the context and the harness you build around it.”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150608" y="5074920"/>
            <a:ext cx="4123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D2E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How AI Agents &amp; Claude Skills Work  ·  </a:t>
            </a:r>
            <a:pPr algn="l" indent="0" marL="0">
              <a:buNone/>
            </a:pPr>
            <a:r>
              <a:rPr lang="en-US" sz="1050" dirty="0">
                <a:solidFill>
                  <a:srgbClr val="B3B4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youtube · Greg Isenberg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982712" y="31089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7C8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authoring method</a:t>
            </a:r>
            <a:endParaRPr lang="en-US" sz="10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27648"/>
            <a:ext cx="1078992" cy="32505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31520"/>
            <a:ext cx="164592" cy="164592"/>
          </a:xfrm>
          <a:prstGeom prst="rect">
            <a:avLst/>
          </a:prstGeom>
          <a:solidFill>
            <a:srgbClr val="FF7828"/>
          </a:solidFill>
          <a:ln w="12700">
            <a:solidFill>
              <a:srgbClr val="FF7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2688" y="685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50" kern="0" dirty="0">
                <a:solidFill>
                  <a:srgbClr val="FF782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PRINCIPLE 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5943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Get one skill reliable before reaching for many agents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5852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550" dirty="0">
                <a:solidFill>
                  <a:srgbClr val="B3B4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progression: one agent + one skill (make it reliable) → one agent + many skills (the architecture) → only then consider sub-agents.</a:t>
            </a:r>
            <a:endParaRPr lang="en-US" sz="15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B3B4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Multi-agent is the move after skills work, never a fix for an unreliable single agent. The rule of thumb: don't add a sub-agent until you've got a reliable skill.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858000" y="1508760"/>
            <a:ext cx="4709160" cy="4023360"/>
          </a:xfrm>
          <a:prstGeom prst="roundRect">
            <a:avLst>
              <a:gd name="adj" fmla="val 2273"/>
            </a:avLst>
          </a:prstGeom>
          <a:solidFill>
            <a:srgbClr val="222229"/>
          </a:solidFill>
          <a:ln w="19050">
            <a:solidFill>
              <a:srgbClr val="FF782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50608" y="1801368"/>
            <a:ext cx="749808" cy="749808"/>
          </a:xfrm>
          <a:prstGeom prst="ellipse">
            <a:avLst/>
          </a:prstGeom>
          <a:solidFill>
            <a:srgbClr val="FF7828"/>
          </a:solidFill>
          <a:ln w="12700">
            <a:solidFill>
              <a:srgbClr val="FF78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50608" y="1801368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156448" y="1819656"/>
            <a:ext cx="3118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Michael Shimeles (Ras Mic)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56448" y="2167128"/>
            <a:ext cx="3118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3B4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Fabrika · Startup Ideas Podcast, 2026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150608" y="2660904"/>
            <a:ext cx="4123944" cy="2368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“Get the single agent and one skill reliable first. Multi-agent is what you reach for after that, not instead of it.”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150608" y="5074920"/>
            <a:ext cx="4123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782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Skill-maxxing before multi-agent  ·  </a:t>
            </a:r>
            <a:pPr algn="l" indent="0" marL="0">
              <a:buNone/>
            </a:pPr>
            <a:r>
              <a:rPr lang="en-US" sz="1050" dirty="0">
                <a:solidFill>
                  <a:srgbClr val="B3B4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youtube · Greg Isenberg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982712" y="31089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7C8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sequence the work</a:t>
            </a:r>
            <a:endParaRPr lang="en-US" sz="10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27648"/>
            <a:ext cx="1078992" cy="32505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31520"/>
            <a:ext cx="164592" cy="164592"/>
          </a:xfrm>
          <a:prstGeom prst="rect">
            <a:avLst/>
          </a:prstGeom>
          <a:solidFill>
            <a:srgbClr val="0064FF"/>
          </a:solidFill>
          <a:ln w="12700">
            <a:solidFill>
              <a:srgbClr val="006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2688" y="685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50" kern="0" dirty="0">
                <a:solidFill>
                  <a:srgbClr val="0064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PRINCIPLE 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5943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skill file is the unit that improves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5852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550" dirty="0">
                <a:solidFill>
                  <a:srgbClr val="B3B4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When a skill fails in production, you don't re-prompt — you patch the file. One markdown diff per iteration, and the next run doesn't repeat the mistake.</a:t>
            </a:r>
            <a:endParaRPr lang="en-US" sz="15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B3B4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Anthropic's stated destination is agents writing their own skills from experience. The artifact that learns is a file you can read, review, and version.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858000" y="1508760"/>
            <a:ext cx="4709160" cy="4023360"/>
          </a:xfrm>
          <a:prstGeom prst="roundRect">
            <a:avLst>
              <a:gd name="adj" fmla="val 2273"/>
            </a:avLst>
          </a:prstGeom>
          <a:solidFill>
            <a:srgbClr val="222229"/>
          </a:solidFill>
          <a:ln w="19050">
            <a:solidFill>
              <a:srgbClr val="0064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50608" y="1801368"/>
            <a:ext cx="749808" cy="749808"/>
          </a:xfrm>
          <a:prstGeom prst="ellipse">
            <a:avLst/>
          </a:prstGeom>
          <a:solidFill>
            <a:srgbClr val="0064FF"/>
          </a:solidFill>
          <a:ln w="12700">
            <a:solidFill>
              <a:srgbClr val="006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50608" y="1801368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BZ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156448" y="1819656"/>
            <a:ext cx="3118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Barry Zhang &amp; Mahesh Murag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56448" y="2167128"/>
            <a:ext cx="3118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3B4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Anthropic · AI Engineer Code Summit, Dec 2025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150608" y="2660904"/>
            <a:ext cx="4123944" cy="2368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“Where we believe this leads: agents writing their own Skills from experience.”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150608" y="5074920"/>
            <a:ext cx="4123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64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Don't Build Agents, Build Skills Instead  ·  </a:t>
            </a:r>
            <a:pPr algn="l" indent="0" marL="0">
              <a:buNone/>
            </a:pPr>
            <a:r>
              <a:rPr lang="en-US" sz="1050" dirty="0">
                <a:solidFill>
                  <a:srgbClr val="B3B4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youtube.com/watch?v=CEvIs9y1uog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982712" y="31089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7C8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skills that learn</a:t>
            </a:r>
            <a:endParaRPr lang="en-US" sz="10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27648"/>
            <a:ext cx="1078992" cy="32505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31520"/>
            <a:ext cx="164592" cy="164592"/>
          </a:xfrm>
          <a:prstGeom prst="rect">
            <a:avLst/>
          </a:prstGeom>
          <a:solidFill>
            <a:srgbClr val="BD2EFF"/>
          </a:solidFill>
          <a:ln w="12700">
            <a:solidFill>
              <a:srgbClr val="BD2E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2688" y="685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50" kern="0" dirty="0">
                <a:solidFill>
                  <a:srgbClr val="BD2E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PRINCIPLE 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This isn't one vendor's idea — the field converged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B3B4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Anthropic ships it as Skills. OpenAI ships the same primitive as the Model Spec: a versioned, plain-language document that captures intent, is authorable by domain experts, and compiles to behaviour. Same artifact, independent roots.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40080" y="2926080"/>
            <a:ext cx="5394960" cy="2743200"/>
          </a:xfrm>
          <a:prstGeom prst="roundRect">
            <a:avLst>
              <a:gd name="adj" fmla="val 3333"/>
            </a:avLst>
          </a:prstGeom>
          <a:solidFill>
            <a:srgbClr val="222229"/>
          </a:solidFill>
          <a:ln w="19050">
            <a:solidFill>
              <a:srgbClr val="00DD81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32688" y="3218688"/>
            <a:ext cx="749808" cy="749808"/>
          </a:xfrm>
          <a:prstGeom prst="ellipse">
            <a:avLst/>
          </a:prstGeom>
          <a:solidFill>
            <a:srgbClr val="00DD81"/>
          </a:solidFill>
          <a:ln w="12700">
            <a:solidFill>
              <a:srgbClr val="00DD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3218688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938528" y="3236976"/>
            <a:ext cx="3803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Sean Grove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938528" y="3584448"/>
            <a:ext cx="3803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3B4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OpenAI · AI Engineer World's Fair 2025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32688" y="4078224"/>
            <a:ext cx="4809744" cy="1088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“Code is 10 to 20% of the value you bring. The other 80 to 90% is in structured communication.”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32688" y="5212080"/>
            <a:ext cx="4809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DD8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New Code  ·  </a:t>
            </a:r>
            <a:pPr algn="l" indent="0" marL="0">
              <a:buNone/>
            </a:pPr>
            <a:r>
              <a:rPr lang="en-US" sz="1050" dirty="0">
                <a:solidFill>
                  <a:srgbClr val="B3B4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youtube.com/watch?v=8rABwKRsec4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355080" y="2926080"/>
            <a:ext cx="5212080" cy="2743200"/>
          </a:xfrm>
          <a:prstGeom prst="roundRect">
            <a:avLst>
              <a:gd name="adj" fmla="val 3333"/>
            </a:avLst>
          </a:prstGeom>
          <a:solidFill>
            <a:srgbClr val="222229"/>
          </a:solidFill>
          <a:ln w="19050">
            <a:solidFill>
              <a:srgbClr val="0064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647688" y="3218688"/>
            <a:ext cx="749808" cy="749808"/>
          </a:xfrm>
          <a:prstGeom prst="ellipse">
            <a:avLst/>
          </a:prstGeom>
          <a:solidFill>
            <a:srgbClr val="0064FF"/>
          </a:solidFill>
          <a:ln w="12700">
            <a:solidFill>
              <a:srgbClr val="006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47688" y="3218688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BZ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653528" y="3236976"/>
            <a:ext cx="3621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Barry Zhang &amp; Mahesh Murag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53528" y="3584448"/>
            <a:ext cx="3621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3B4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Anthropic · Code Summit 2025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647688" y="4078224"/>
            <a:ext cx="4626864" cy="1088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“A minimal, composable form factor for procedural knowledge — portable across one agent's many domains.”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647688" y="5212080"/>
            <a:ext cx="4626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64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Build Skills Instead  ·  </a:t>
            </a:r>
            <a:pPr algn="l" indent="0" marL="0">
              <a:buNone/>
            </a:pPr>
            <a:r>
              <a:rPr lang="en-US" sz="1050" dirty="0">
                <a:solidFill>
                  <a:srgbClr val="B3B4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youtube.com/watch?v=CEvIs9y1uog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982712" y="31089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7C8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cross-vendor convergence</a:t>
            </a:r>
            <a:endParaRPr lang="en-US" sz="10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27648"/>
            <a:ext cx="1078992" cy="32505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31520"/>
            <a:ext cx="164592" cy="164592"/>
          </a:xfrm>
          <a:prstGeom prst="rect">
            <a:avLst/>
          </a:prstGeom>
          <a:solidFill>
            <a:srgbClr val="00DD81"/>
          </a:solidFill>
          <a:ln w="12700">
            <a:solidFill>
              <a:srgbClr val="00DD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2688" y="685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50" kern="0" dirty="0">
                <a:solidFill>
                  <a:srgbClr val="00DD8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OUR EVIDENCE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What skills actually did in our 60-agent cohort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B3B4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Same task, same model. Module 1 (bare agent) vs Module 2 (+ the skills toolkit), scored against the same baseline.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606040"/>
            <a:ext cx="3474720" cy="2743200"/>
          </a:xfrm>
          <a:prstGeom prst="roundRect">
            <a:avLst>
              <a:gd name="adj" fmla="val 3333"/>
            </a:avLst>
          </a:prstGeom>
          <a:solidFill>
            <a:srgbClr val="222229"/>
          </a:solidFill>
          <a:ln w="12700">
            <a:solidFill>
              <a:srgbClr val="2B2B3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834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7C7C8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MEAN SCORE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2004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B3B4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+48.0% → +49.5%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14400" y="393192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B3B4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Barely moved. The model already finds the core answer from a bare prompt.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61688" y="2606040"/>
            <a:ext cx="3474720" cy="2743200"/>
          </a:xfrm>
          <a:prstGeom prst="roundRect">
            <a:avLst>
              <a:gd name="adj" fmla="val 3333"/>
            </a:avLst>
          </a:prstGeom>
          <a:solidFill>
            <a:srgbClr val="222229"/>
          </a:solidFill>
          <a:ln w="12700">
            <a:solidFill>
              <a:srgbClr val="2B2B3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36008" y="2834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7C7C8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RUN-TO-RUN SPREAD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36008" y="32004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DD8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σ 2.8% → 1.4%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636008" y="393192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B3B4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Halved. Every run now lands near the good answer, not just the best ones.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083296" y="2606040"/>
            <a:ext cx="3474720" cy="2743200"/>
          </a:xfrm>
          <a:prstGeom prst="roundRect">
            <a:avLst>
              <a:gd name="adj" fmla="val 3333"/>
            </a:avLst>
          </a:prstGeom>
          <a:solidFill>
            <a:srgbClr val="222229"/>
          </a:solidFill>
          <a:ln w="12700">
            <a:solidFill>
              <a:srgbClr val="2B2B3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357616" y="2834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7C7C8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FLOOR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357616" y="32004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64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lifted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357616" y="393192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B3B4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Worst-case runs and silent packaging failures largely disappear.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0080" y="5577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honest read: </a:t>
            </a:r>
            <a:pPr algn="l" indent="0" marL="0">
              <a:buNone/>
            </a:pPr>
            <a:r>
              <a:rPr lang="en-US" sz="1600" i="1" dirty="0">
                <a:solidFill>
                  <a:srgbClr val="B3B4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skills buy reliability, not a higher ceiling. That comes in Module 3.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982712" y="31089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7C8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evidence · cohort 20260601</a:t>
            </a:r>
            <a:endParaRPr lang="en-US" sz="10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27648"/>
            <a:ext cx="1078992" cy="32505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31520"/>
            <a:ext cx="164592" cy="164592"/>
          </a:xfrm>
          <a:prstGeom prst="rect">
            <a:avLst/>
          </a:prstGeom>
          <a:solidFill>
            <a:srgbClr val="0064FF"/>
          </a:solidFill>
          <a:ln w="12700">
            <a:solidFill>
              <a:srgbClr val="006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2688" y="685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50" kern="0" dirty="0">
                <a:solidFill>
                  <a:srgbClr val="0064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REFERENCES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Sources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37944"/>
            <a:ext cx="109728" cy="457200"/>
          </a:xfrm>
          <a:prstGeom prst="rect">
            <a:avLst/>
          </a:prstGeom>
          <a:solidFill>
            <a:srgbClr val="006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830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Barry Zhang &amp; Mahesh Murag (Anthropic)  —  </a:t>
            </a:r>
            <a:pPr algn="l" indent="0" marL="0">
              <a:buNone/>
            </a:pPr>
            <a:r>
              <a:rPr lang="en-US" sz="1400" dirty="0">
                <a:solidFill>
                  <a:srgbClr val="B3B4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Don't Build Agents, Build Skills Instead — AI Engineer Code Summit, 2025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11226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D89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youtube.com/watch?v=CEvIs9y1uog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587752"/>
            <a:ext cx="109728" cy="457200"/>
          </a:xfrm>
          <a:prstGeom prst="rect">
            <a:avLst/>
          </a:prstGeom>
          <a:solidFill>
            <a:srgbClr val="00DD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53288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Anthropic Engineering  —  </a:t>
            </a:r>
            <a:pPr algn="l" indent="0" marL="0">
              <a:buNone/>
            </a:pPr>
            <a:r>
              <a:rPr lang="en-US" sz="1400" dirty="0">
                <a:solidFill>
                  <a:srgbClr val="B3B4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Equipping agents for the real world with Agent Skills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86207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D89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anthropic.com/engineering/equipping-agents-for-the-real-world-with-agent-skills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337560"/>
            <a:ext cx="109728" cy="457200"/>
          </a:xfrm>
          <a:prstGeom prst="rect">
            <a:avLst/>
          </a:prstGeom>
          <a:solidFill>
            <a:srgbClr val="FF7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282696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Simon Willison  —  </a:t>
            </a:r>
            <a:pPr algn="l" indent="0" marL="0">
              <a:buNone/>
            </a:pPr>
            <a:r>
              <a:rPr lang="en-US" sz="1400" dirty="0">
                <a:solidFill>
                  <a:srgbClr val="B3B4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Claude Skills are awesome, maybe a bigger deal than MCP — Oct 2025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361188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D89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simonwillison.net/2025/Oct/16/claude-skills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4087368"/>
            <a:ext cx="109728" cy="457200"/>
          </a:xfrm>
          <a:prstGeom prst="rect">
            <a:avLst/>
          </a:prstGeom>
          <a:solidFill>
            <a:srgbClr val="00DD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03250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Sean Grove (OpenAI)  —  </a:t>
            </a:r>
            <a:pPr algn="l" indent="0" marL="0">
              <a:buNone/>
            </a:pPr>
            <a:r>
              <a:rPr lang="en-US" sz="1400" dirty="0">
                <a:solidFill>
                  <a:srgbClr val="B3B4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New Code — AI Engineer World's Fair, 2025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436168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D89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youtube.com/watch?v=8rABwKRsec4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837176"/>
            <a:ext cx="109728" cy="457200"/>
          </a:xfrm>
          <a:prstGeom prst="rect">
            <a:avLst/>
          </a:prstGeom>
          <a:solidFill>
            <a:srgbClr val="BD2E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78231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Michael Shimeles (Ras Mic, Fabrika)  —  </a:t>
            </a:r>
            <a:pPr algn="l" indent="0" marL="0">
              <a:buNone/>
            </a:pPr>
            <a:r>
              <a:rPr lang="en-US" sz="1400" dirty="0">
                <a:solidFill>
                  <a:srgbClr val="B3B4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How AI Agents &amp; Claude Skills Work — Startup Ideas Podcast, 2026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5111496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D89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youtube · Greg Isenberg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5586984"/>
            <a:ext cx="109728" cy="457200"/>
          </a:xfrm>
          <a:prstGeom prst="rect">
            <a:avLst/>
          </a:prstGeom>
          <a:solidFill>
            <a:srgbClr val="3D89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5321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Quix  —  </a:t>
            </a:r>
            <a:pPr algn="l" indent="0" marL="0">
              <a:buNone/>
            </a:pPr>
            <a:r>
              <a:rPr lang="en-US" sz="1400" dirty="0">
                <a:solidFill>
                  <a:srgbClr val="B3B4B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Module 2 toolkit + 60-agent canonical grade (run 20260601-120739)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" y="586130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D89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webinar-AI/module-2.v3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982712" y="31089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7C8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references</a:t>
            </a:r>
            <a:endParaRPr lang="en-US" sz="100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327648"/>
            <a:ext cx="1078992" cy="32505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2 — Skills: principles &amp; references</dc:title>
  <dc:subject>PptxGenJS Presentation</dc:subject>
  <dc:creator>Quix</dc:creator>
  <cp:lastModifiedBy>Quix</cp:lastModifiedBy>
  <cp:revision>1</cp:revision>
  <dcterms:created xsi:type="dcterms:W3CDTF">2026-06-02T23:28:11Z</dcterms:created>
  <dcterms:modified xsi:type="dcterms:W3CDTF">2026-06-02T23:28:11Z</dcterms:modified>
</cp:coreProperties>
</file>