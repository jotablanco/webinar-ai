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11640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-100" kern="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Coding </a:t>
            </a:r>
            <a:pPr algn="ctr" indent="0" marL="0">
              <a:buNone/>
            </a:pPr>
            <a:r>
              <a:rPr lang="en-US" sz="6400" b="1" spc="-100" kern="0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≠</a:t>
            </a:r>
            <a:pPr algn="ctr" indent="0" marL="0">
              <a:buNone/>
            </a:pPr>
            <a:r>
              <a:rPr lang="en-US" sz="6400" b="1" spc="-100" kern="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Engineering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371600" y="40690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internet has a lot of opinions about the first one.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coding ≠ engineering · v1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11640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-100" kern="0" dirty="0">
                <a:solidFill>
                  <a:srgbClr val="0A0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Coding </a:t>
            </a:r>
            <a:pPr algn="ctr" indent="0" marL="0">
              <a:buNone/>
            </a:pPr>
            <a:r>
              <a:rPr lang="en-US" sz="6400" b="1" spc="-100" kern="0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≠</a:t>
            </a:r>
            <a:pPr algn="ctr" indent="0" marL="0">
              <a:buNone/>
            </a:pPr>
            <a:r>
              <a:rPr lang="en-US" sz="6400" b="1" spc="-100" kern="0" dirty="0">
                <a:solidFill>
                  <a:srgbClr val="0A0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Engineering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371600" y="40690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647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Autocomplete got very good at the easy 20%.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A2B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coding ≠ engineering · v2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11640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-100" kern="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Coding </a:t>
            </a:r>
            <a:pPr algn="ctr" indent="0" marL="0">
              <a:buNone/>
            </a:pPr>
            <a:r>
              <a:rPr lang="en-US" sz="6400" b="1" spc="-100" kern="0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≠</a:t>
            </a:r>
            <a:pPr algn="ctr" indent="0" marL="0">
              <a:buNone/>
            </a:pPr>
            <a:r>
              <a:rPr lang="en-US" sz="6400" b="1" spc="-100" kern="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Engineering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371600" y="40690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Most “AI for devs” content is about the typing, not the deciding.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coding ≠ engineering · v3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-50" kern="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Ghost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Poltergeist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Genie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ways to run a model. Only one of them is safe to leave alone.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5236" y="210312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222229"/>
          </a:solidFill>
          <a:ln w="12700">
            <a:solidFill>
              <a:srgbClr val="2B2B3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5376" y="2423160"/>
            <a:ext cx="960120" cy="960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Ghost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1268" y="4114800"/>
            <a:ext cx="26883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bare model in a chat box. No hands, no memory, no access. You ask, it answers, it forgets you.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494276" y="210312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222229"/>
          </a:solidFill>
          <a:ln w="12700">
            <a:solidFill>
              <a:srgbClr val="2B2B3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2423160"/>
            <a:ext cx="960120" cy="960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94276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Poltergeist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750308" y="4114800"/>
            <a:ext cx="26883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agent with tools but no harness. It writes files, calls APIs, deletes your afternoon. Capable, unbounded.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243316" y="210312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222229"/>
          </a:solidFill>
          <a:ln w="12700">
            <a:solidFill>
              <a:srgbClr val="2B2B3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56" y="2423160"/>
            <a:ext cx="960120" cy="9601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43316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Genie in a lamp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499348" y="4114800"/>
            <a:ext cx="26883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agent inside a harness. Something decides what it can touch, what it keeps, and when you step in.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874520" y="63276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Metaphor adapted from Cassie Kozyrkov, former Chief Decision Scientist at Google.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ghost→genie · vA (panels)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-50" kern="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Ghost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Poltergeist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Genie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ways to run a model. Only one of them is safe to leave alone.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3317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3291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Ghost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37033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bare model in a chat box. No hands, no memory, no access. You ask, it answers, it forgets you.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33172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13248" y="3291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Poltergeist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5413248" y="37033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agent with tools but no harness. It writes files, calls APIs, deletes your afternoon. Capable, unbounded.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36" y="2331720"/>
            <a:ext cx="914400" cy="914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72016" y="3291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Genie in a lamp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9272016" y="37033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agent inside a harness. Something decides what it can touch, what it keeps, and when you step in.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977640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4000" dirty="0"/>
          </a:p>
        </p:txBody>
      </p:sp>
      <p:sp>
        <p:nvSpPr>
          <p:cNvPr id="14" name="Text 9"/>
          <p:cNvSpPr/>
          <p:nvPr/>
        </p:nvSpPr>
        <p:spPr>
          <a:xfrm>
            <a:off x="7836408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4000" dirty="0"/>
          </a:p>
        </p:txBody>
      </p:sp>
      <p:sp>
        <p:nvSpPr>
          <p:cNvPr id="15" name="Shape 10"/>
          <p:cNvSpPr/>
          <p:nvPr/>
        </p:nvSpPr>
        <p:spPr>
          <a:xfrm>
            <a:off x="2194560" y="5257800"/>
            <a:ext cx="7799832" cy="868680"/>
          </a:xfrm>
          <a:prstGeom prst="roundRect">
            <a:avLst>
              <a:gd name="adj" fmla="val 10526"/>
            </a:avLst>
          </a:prstGeom>
          <a:solidFill>
            <a:srgbClr val="222229"/>
          </a:solidFill>
          <a:ln w="19050">
            <a:solidFill>
              <a:srgbClr val="0064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194560" y="5257800"/>
            <a:ext cx="7799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lamp is the point.   </a:t>
            </a:r>
            <a:pPr algn="ctr" indent="0" marL="0">
              <a:buNone/>
            </a:pPr>
            <a:r>
              <a:rPr lang="en-US" sz="2000" b="1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 = Model + Harness.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874520" y="63276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Metaphor adapted from Cassie Kozyrkov, former Chief Decision Scientist at Google.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ghost→genie · vB (ladder)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-50" kern="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Ghost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Poltergeist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Genie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ways to run a model. Only one of them is safe to leave alone.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5236" y="210312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222229"/>
          </a:solidFill>
          <a:ln w="12700">
            <a:solidFill>
              <a:srgbClr val="2B2B3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5376" y="2423160"/>
            <a:ext cx="960120" cy="960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Ghost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1268" y="4114800"/>
            <a:ext cx="26883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bare model in a chat box. No hands, no memory, no access. You ask, it answers, it forgets you.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494276" y="210312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1A1A1F"/>
          </a:solidFill>
          <a:ln w="12700">
            <a:solidFill>
              <a:srgbClr val="26262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2423160"/>
            <a:ext cx="960120" cy="960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94276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455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Poltergeist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750308" y="4114800"/>
            <a:ext cx="26883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C3D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agent with tools but no harness. It writes files, calls APIs, deletes your afternoon. Capable, unbounded.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243316" y="210312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1A1A1F"/>
          </a:solidFill>
          <a:ln w="12700">
            <a:solidFill>
              <a:srgbClr val="2626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56" y="2423160"/>
            <a:ext cx="960120" cy="9601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43316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455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Genie in a lamp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499348" y="4114800"/>
            <a:ext cx="26883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C3D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agent inside a harness. Something decides what it can touch, what it keeps, and when you step in.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874520" y="63276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Metaphor adapted from Cassie Kozyrkov, former Chief Decision Scientist at Google.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ghost→genie · build 1/3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-50" kern="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Ghost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Poltergeist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Genie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ways to run a model. Only one of them is safe to leave alone.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5236" y="210312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222229"/>
          </a:solidFill>
          <a:ln w="12700">
            <a:solidFill>
              <a:srgbClr val="2B2B3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5376" y="2423160"/>
            <a:ext cx="960120" cy="960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Ghost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1268" y="4114800"/>
            <a:ext cx="26883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bare model in a chat box. No hands, no memory, no access. You ask, it answers, it forgets you.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494276" y="210312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222229"/>
          </a:solidFill>
          <a:ln w="12700">
            <a:solidFill>
              <a:srgbClr val="2B2B3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2423160"/>
            <a:ext cx="960120" cy="960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94276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Poltergeist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750308" y="4114800"/>
            <a:ext cx="26883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agent with tools but no harness. It writes files, calls APIs, deletes your afternoon. Capable, unbounded.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243316" y="210312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1A1A1F"/>
          </a:solidFill>
          <a:ln w="12700">
            <a:solidFill>
              <a:srgbClr val="2626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56" y="2423160"/>
            <a:ext cx="960120" cy="9601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43316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455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Genie in a lamp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499348" y="4114800"/>
            <a:ext cx="26883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C3D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agent inside a harness. Something decides what it can touch, what it keeps, and when you step in.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874520" y="63276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Metaphor adapted from Cassie Kozyrkov, former Chief Decision Scientist at Google.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ghost→genie · build 2/3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-50" kern="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Ghost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Poltergeist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</a:t>
            </a:r>
            <a:pPr algn="ctr" indent="0" marL="0">
              <a:buNone/>
            </a:pPr>
            <a:r>
              <a:rPr lang="en-US" sz="3800" b="1" spc="-50" kern="0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Genie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ways to run a model. Only one of them is safe to leave alone.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5236" y="210312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222229"/>
          </a:solidFill>
          <a:ln w="12700">
            <a:solidFill>
              <a:srgbClr val="2B2B3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5376" y="2423160"/>
            <a:ext cx="960120" cy="960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Ghost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1268" y="4114800"/>
            <a:ext cx="26883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bare model in a chat box. No hands, no memory, no access. You ask, it answers, it forgets you.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494276" y="210312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222229"/>
          </a:solidFill>
          <a:ln w="12700">
            <a:solidFill>
              <a:srgbClr val="2B2B3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2423160"/>
            <a:ext cx="960120" cy="960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94276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Poltergeist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750308" y="4114800"/>
            <a:ext cx="26883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agent with tools but no harness. It writes files, calls APIs, deletes your afternoon. Capable, unbounded.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243316" y="210312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222229"/>
          </a:solidFill>
          <a:ln w="12700">
            <a:solidFill>
              <a:srgbClr val="2B2B3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56" y="2423160"/>
            <a:ext cx="960120" cy="9601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43316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Genie in a lamp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499348" y="4114800"/>
            <a:ext cx="26883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agent inside a harness. Something decides what it can touch, what it keeps, and when you step in.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874520" y="63276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Metaphor adapted from Cassie Kozyrkov, former Chief Decision Scientist at Google.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ghost→genie · build 3/3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1188720"/>
            <a:ext cx="9628632" cy="4389120"/>
          </a:xfrm>
          <a:prstGeom prst="roundRect">
            <a:avLst>
              <a:gd name="adj" fmla="val 2500"/>
            </a:avLst>
          </a:prstGeom>
          <a:solidFill>
            <a:srgbClr val="222229"/>
          </a:solidFill>
          <a:ln w="12700">
            <a:solidFill>
              <a:srgbClr val="2B2B3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737360" y="15544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tokenmaxxing  </a:t>
            </a:r>
            <a:pPr algn="l" indent="0" marL="0">
              <a:buNone/>
            </a:pPr>
            <a:r>
              <a:rPr lang="en-US" sz="2400" i="1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(v.)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737360" y="25146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Stuffing the context window to 200k tokens because more input feels like more intelligence. The model quietly gets worse. See also: cope.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737360" y="388620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“bro dropped the entire repo into the prompt.”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“yeah he's tokenmaxxing. it's so over.”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tokenmaxxing · m1 (dictionary)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23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1280160" y="1463040"/>
            <a:ext cx="9692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If you think the fix is to throw money at it by spending more tokens, please talk to our GTM team. We'll be glad to help.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 Barry Zhang, Anthropic </a:t>
            </a:r>
            <a:pPr algn="l" indent="0" marL="0">
              <a:buNone/>
            </a:pPr>
            <a:r>
              <a:rPr lang="en-US" sz="1800" i="1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(the company that sells the tokens)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5349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When even the dealer tells you to slow down.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tokenmaxxing · m2 (vendor)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9504" y="1234440"/>
            <a:ext cx="6400800" cy="2743200"/>
          </a:xfrm>
          <a:prstGeom prst="roundRect">
            <a:avLst>
              <a:gd name="adj" fmla="val 4000"/>
            </a:avLst>
          </a:prstGeom>
          <a:solidFill>
            <a:srgbClr val="222229"/>
          </a:solidFill>
          <a:ln w="12700">
            <a:solidFill>
              <a:srgbClr val="2B2B3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889504" y="1508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TOKENS CONSUMED THIS QUARTER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889504" y="19202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4.2B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889504" y="3246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D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▲ </a:t>
            </a:r>
            <a:pPr algn="ctr" indent="0" marL="0">
              <a:buNone/>
            </a:pPr>
            <a:r>
              <a:rPr lang="en-US" sz="2200" b="1" dirty="0">
                <a:solidFill>
                  <a:srgbClr val="00DD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38% QoQ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434340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is not the flex you think it is.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507492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Goodhart's law, now in a hard hat: once tokens become the target, they stop being a useful metric.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tokenmaxxing · m3 (dashboard)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stop tokenmaxxing. </a:t>
            </a:r>
            <a:pPr algn="ctr" indent="0" marL="0">
              <a:buNone/>
            </a:pPr>
            <a:r>
              <a:rPr lang="en-US" sz="3400" b="1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start turnmaxxing.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1828800"/>
            <a:ext cx="4572000" cy="3749040"/>
          </a:xfrm>
          <a:prstGeom prst="roundRect">
            <a:avLst>
              <a:gd name="adj" fmla="val 2927"/>
            </a:avLst>
          </a:prstGeom>
          <a:solidFill>
            <a:srgbClr val="1A1A1F"/>
          </a:solidFill>
          <a:ln w="12700">
            <a:solidFill>
              <a:srgbClr val="2B2B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057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64647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283464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2A2B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Minimise tokens per call.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2A2B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Take ten turns to get there.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2A2B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Brag about the token bill.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19672" y="1828800"/>
            <a:ext cx="4572000" cy="3749040"/>
          </a:xfrm>
          <a:prstGeom prst="roundRect">
            <a:avLst>
              <a:gd name="adj" fmla="val 2927"/>
            </a:avLst>
          </a:prstGeom>
          <a:solidFill>
            <a:srgbClr val="222229"/>
          </a:solidFill>
          <a:ln w="19050">
            <a:solidFill>
              <a:srgbClr val="0064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19672" y="2057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BASED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39712" y="283464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5× the tokens, one turn, done.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Latency and failure surface drop.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Measure turns, not tokens.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tokenmaxxing · m4 (cope/based)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011680"/>
            <a:ext cx="4572000" cy="2743200"/>
          </a:xfrm>
          <a:prstGeom prst="roundRect">
            <a:avLst>
              <a:gd name="adj" fmla="val 4000"/>
            </a:avLst>
          </a:prstGeom>
          <a:solidFill>
            <a:srgbClr val="1A1A1F"/>
          </a:solidFill>
          <a:ln w="12700">
            <a:solidFill>
              <a:srgbClr val="2B2B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25880" y="23317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it's not lazy.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2971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it's at 92% context fill.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38404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it's so over.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0" y="2834640"/>
            <a:ext cx="1216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19672" y="2011680"/>
            <a:ext cx="4572000" cy="2743200"/>
          </a:xfrm>
          <a:prstGeom prst="roundRect">
            <a:avLst>
              <a:gd name="adj" fmla="val 4000"/>
            </a:avLst>
          </a:prstGeom>
          <a:solidFill>
            <a:srgbClr val="222229"/>
          </a:solidFill>
          <a:ln w="19050">
            <a:solidFill>
              <a:srgbClr val="00DD8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48272" y="24688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748272" y="35661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D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we're so back.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Context rot is real. Compaction is the glow-up.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tokenmaxxing · m5 (brainrot)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things we're triangulating from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18304" y="169164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222229"/>
          </a:solidFill>
          <a:ln w="19050">
            <a:solidFill>
              <a:srgbClr val="0064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901184" y="1874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6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research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946904" y="23774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year of the best practitioner work, filtered to what survives contact with a real task.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417320" y="425196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222229"/>
          </a:solidFill>
          <a:ln w="19050">
            <a:solidFill>
              <a:srgbClr val="FF782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00200" y="4434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F1 engineering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45920" y="49377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State-of-the-art decisions, made fast and under load, where being wrong is expensive.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19288" y="425196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222229"/>
          </a:solidFill>
          <a:ln w="19050">
            <a:solidFill>
              <a:srgbClr val="00DD8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02168" y="4434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DD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Building QuixAI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47888" y="49377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actually held up once we had to ship it ourselves.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61104" y="36758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we actually trust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credibility · c1 (triangle)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Why listen to us?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5236" y="173736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222229"/>
          </a:solidFill>
          <a:ln w="19050">
            <a:solidFill>
              <a:srgbClr val="0064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45236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6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research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1268" y="2514600"/>
            <a:ext cx="26883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year of the best practitioner work, filtered to what survives contact with a real task.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94276" y="173736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222229"/>
          </a:solidFill>
          <a:ln w="19050">
            <a:solidFill>
              <a:srgbClr val="FF782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94276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F1 engineering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750308" y="2514600"/>
            <a:ext cx="26883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State-of-the-art decisions, made fast and under load, where being wrong is expensive.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43316" y="173736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222229"/>
          </a:solidFill>
          <a:ln w="19050">
            <a:solidFill>
              <a:srgbClr val="00DD8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43316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DD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Building QuixAI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499348" y="2514600"/>
            <a:ext cx="26883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actually held up once we had to ship it ourselves.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37360" y="4663440"/>
            <a:ext cx="8714232" cy="1234440"/>
          </a:xfrm>
          <a:prstGeom prst="roundRect">
            <a:avLst>
              <a:gd name="adj" fmla="val 7407"/>
            </a:avLst>
          </a:prstGeom>
          <a:solidFill>
            <a:srgbClr val="1A1A1F"/>
          </a:solidFill>
          <a:ln w="12700">
            <a:solidFill>
              <a:srgbClr val="2B2B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4663440"/>
            <a:ext cx="8165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Two of these taught us what works. </a:t>
            </a:r>
            <a:pPr algn="ctr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taught us what doesn't. </a:t>
            </a:r>
            <a:pPr algn="ctr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That one was us.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credibility · c2 (humility)</a:t>
            </a:r>
            <a:endParaRPr lang="en-US" sz="10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Where this comes from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6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research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286000" y="23317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year of the best practitioner work, filtered to what survives contact with a real task.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286000" y="324612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F1 engineering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286000" y="374904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State-of-the-art decisions, made fast and under load, where being wrong is expensive.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DD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286000" y="466344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Building QuixAI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2286000" y="51663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actually held up once we had to ship it ourselves.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credibility · c3 (rows)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Engineering — intro slide options</dc:title>
  <dc:subject>PptxGenJS Presentation</dc:subject>
  <dc:creator>Quix</dc:creator>
  <cp:lastModifiedBy>Quix</cp:lastModifiedBy>
  <cp:revision>1</cp:revision>
  <dcterms:created xsi:type="dcterms:W3CDTF">2026-06-02T18:01:02Z</dcterms:created>
  <dcterms:modified xsi:type="dcterms:W3CDTF">2026-06-02T18:01:02Z</dcterms:modified>
</cp:coreProperties>
</file>